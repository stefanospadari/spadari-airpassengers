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1" r:id="rId6"/>
  </p:sldMasterIdLst>
  <p:handoutMasterIdLst>
    <p:handoutMasterId r:id="rId20"/>
  </p:handoutMasterIdLst>
  <p:sldIdLst>
    <p:sldId id="263" r:id="rId7"/>
    <p:sldId id="280" r:id="rId8"/>
    <p:sldId id="278" r:id="rId9"/>
    <p:sldId id="281" r:id="rId10"/>
    <p:sldId id="282" r:id="rId11"/>
    <p:sldId id="283" r:id="rId12"/>
    <p:sldId id="287" r:id="rId13"/>
    <p:sldId id="284" r:id="rId14"/>
    <p:sldId id="285" r:id="rId15"/>
    <p:sldId id="289" r:id="rId16"/>
    <p:sldId id="288" r:id="rId17"/>
    <p:sldId id="290" r:id="rId18"/>
    <p:sldId id="267" r:id="rId19"/>
  </p:sldIdLst>
  <p:sldSz cx="12192000" cy="6858000"/>
  <p:notesSz cx="6797675" cy="9928225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97D0"/>
    <a:srgbClr val="BD2B0B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7E1A6-FA7F-EFFF-D315-055FE27B46B3}" v="1049" dt="2026-02-24T09:03:37.383"/>
    <p1510:client id="{5A9791C1-7327-D285-6393-1E26D85860EE}" v="1599" dt="2026-02-22T18:48:01.082"/>
    <p1510:client id="{A25249D8-7BBB-7119-98F2-48F42677DBD3}" v="980" dt="2026-02-23T12:51:54.124"/>
    <p1510:client id="{D2076BCD-DBBF-A94F-83B3-7CA641D784CA}" v="1666" dt="2026-02-23T10:59:17.220"/>
    <p1510:client id="{FE5F9D69-8C77-A64A-9EE5-C22A6DBF0D5D}" v="764" dt="2026-02-23T00:19:5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4604" autoAdjust="0"/>
  </p:normalViewPr>
  <p:slideViewPr>
    <p:cSldViewPr showGuides="1">
      <p:cViewPr varScale="1">
        <p:scale>
          <a:sx n="72" d="100"/>
          <a:sy n="72" d="100"/>
        </p:scale>
        <p:origin x="105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58A08-A15A-4C04-BB8A-1EE48D0160CF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B7062-2C0D-46B7-9F71-552E63D1E6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2294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0" hasCustomPrompt="1"/>
          </p:nvPr>
        </p:nvSpPr>
        <p:spPr>
          <a:xfrm>
            <a:off x="4751851" y="548680"/>
            <a:ext cx="6913364" cy="453650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inserire </a:t>
            </a:r>
          </a:p>
          <a:p>
            <a:pPr lvl="0"/>
            <a:r>
              <a:rPr lang="it-IT" dirty="0"/>
              <a:t>il titolo della presentazione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751917" y="5379814"/>
            <a:ext cx="7008283" cy="42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4751918" y="5877942"/>
            <a:ext cx="7105649" cy="7914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Dipartimento/Struttura </a:t>
            </a:r>
            <a:r>
              <a:rPr lang="it-IT" dirty="0" err="1"/>
              <a:t>xxxxxx</a:t>
            </a:r>
            <a:r>
              <a:rPr lang="it-IT" dirty="0"/>
              <a:t> </a:t>
            </a:r>
            <a:r>
              <a:rPr lang="it-IT" dirty="0" err="1"/>
              <a:t>xxxxxxxxxxxx</a:t>
            </a:r>
            <a:r>
              <a:rPr lang="it-IT" dirty="0"/>
              <a:t> </a:t>
            </a:r>
            <a:r>
              <a:rPr lang="it-IT" dirty="0" err="1"/>
              <a:t>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r>
              <a:rPr lang="it-IT" dirty="0"/>
              <a:t> </a:t>
            </a:r>
            <a:r>
              <a:rPr lang="it-IT" dirty="0" err="1"/>
              <a:t>xxxxxxxxxxxxxxxxxxx</a:t>
            </a:r>
            <a:r>
              <a:rPr lang="it-IT" dirty="0"/>
              <a:t> </a:t>
            </a:r>
            <a:r>
              <a:rPr lang="it-IT" dirty="0" err="1"/>
              <a:t>xxxxx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672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punto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989138"/>
            <a:ext cx="11233149" cy="3960812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800" baseline="0">
                <a:latin typeface="Century Gothic" panose="020B0502020202020204" pitchFamily="34" charset="0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latin typeface="Century Gothic" panose="020B0502020202020204" pitchFamily="34" charset="0"/>
              </a:defRPr>
            </a:lvl2pPr>
          </a:lstStyle>
          <a:p>
            <a:pPr lvl="1"/>
            <a:r>
              <a:rPr lang="it-IT" dirty="0"/>
              <a:t>Fare clic per modificare il punto elenco uno</a:t>
            </a:r>
          </a:p>
          <a:p>
            <a:pPr lvl="1"/>
            <a:r>
              <a:rPr lang="it-IT" dirty="0"/>
              <a:t>Fare clic per modificare il punto elenco due</a:t>
            </a:r>
          </a:p>
          <a:p>
            <a:pPr lvl="1"/>
            <a:r>
              <a:rPr lang="it-IT" dirty="0"/>
              <a:t>Fare clic per modificare il punto elenco tre</a:t>
            </a:r>
          </a:p>
          <a:p>
            <a:pPr lvl="1"/>
            <a:r>
              <a:rPr lang="it-IT" dirty="0"/>
              <a:t>Fare clic per modificare il punto elenco quattro</a:t>
            </a:r>
          </a:p>
        </p:txBody>
      </p:sp>
      <p:sp>
        <p:nvSpPr>
          <p:cNvPr id="16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04385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empl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  <p:sp>
        <p:nvSpPr>
          <p:cNvPr id="9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1412875"/>
            <a:ext cx="11233149" cy="460841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41815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grafico 8"/>
          <p:cNvSpPr>
            <a:spLocks noGrp="1"/>
          </p:cNvSpPr>
          <p:nvPr>
            <p:ph type="chart" sz="quarter" idx="10" hasCustomPrompt="1"/>
          </p:nvPr>
        </p:nvSpPr>
        <p:spPr>
          <a:xfrm>
            <a:off x="911026" y="2781300"/>
            <a:ext cx="10369551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r>
              <a:rPr lang="it-IT" dirty="0"/>
              <a:t>Fare clic sull’icona per inserire un grafico</a:t>
            </a:r>
          </a:p>
        </p:txBody>
      </p:sp>
      <p:sp>
        <p:nvSpPr>
          <p:cNvPr id="11" name="Segnaposto testo 7"/>
          <p:cNvSpPr>
            <a:spLocks noGrp="1"/>
          </p:cNvSpPr>
          <p:nvPr>
            <p:ph type="body" sz="quarter" idx="12" hasCustomPrompt="1"/>
          </p:nvPr>
        </p:nvSpPr>
        <p:spPr>
          <a:xfrm>
            <a:off x="527051" y="1412876"/>
            <a:ext cx="11233149" cy="43194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6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55583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/>
          <p:cNvSpPr>
            <a:spLocks noGrp="1"/>
          </p:cNvSpPr>
          <p:nvPr>
            <p:ph type="pic" sz="quarter" idx="10" hasCustomPrompt="1"/>
          </p:nvPr>
        </p:nvSpPr>
        <p:spPr>
          <a:xfrm>
            <a:off x="1534584" y="1700809"/>
            <a:ext cx="9122833" cy="410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entury Gothic" panose="020B0502020202020204" pitchFamily="34" charset="0"/>
              </a:defRPr>
            </a:lvl1pPr>
          </a:lstStyle>
          <a:p>
            <a:r>
              <a:rPr lang="it-IT" dirty="0"/>
              <a:t>Fare clic sull’icona per inserire un’immagine</a:t>
            </a:r>
          </a:p>
        </p:txBody>
      </p:sp>
      <p:sp>
        <p:nvSpPr>
          <p:cNvPr id="5" name="Segnaposto testo 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1" y="476674"/>
            <a:ext cx="11233149" cy="6480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buNone/>
              <a:defRPr sz="2400" b="1">
                <a:solidFill>
                  <a:srgbClr val="BD2B0B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Fare clic per modificare il titolo della diapositiva</a:t>
            </a:r>
          </a:p>
        </p:txBody>
      </p:sp>
    </p:spTree>
    <p:extLst>
      <p:ext uri="{BB962C8B-B14F-4D97-AF65-F5344CB8AC3E}">
        <p14:creationId xmlns:p14="http://schemas.microsoft.com/office/powerpoint/2010/main" val="397025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487488" y="2780928"/>
            <a:ext cx="9217024" cy="43237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 Cognome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39483" y="3573017"/>
            <a:ext cx="9313035" cy="93610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Struttura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1390651" y="4725144"/>
            <a:ext cx="9410700" cy="144016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3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it-IT" dirty="0"/>
              <a:t>nome.cognome@unibo.it</a:t>
            </a:r>
          </a:p>
          <a:p>
            <a:pPr lvl="0"/>
            <a:r>
              <a:rPr lang="it-IT" dirty="0"/>
              <a:t>051 20 99982</a:t>
            </a:r>
          </a:p>
        </p:txBody>
      </p:sp>
    </p:spTree>
    <p:extLst>
      <p:ext uri="{BB962C8B-B14F-4D97-AF65-F5344CB8AC3E}">
        <p14:creationId xmlns:p14="http://schemas.microsoft.com/office/powerpoint/2010/main" val="424945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0" name="Immagin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15" y="1700808"/>
            <a:ext cx="2538989" cy="2538989"/>
          </a:xfrm>
          <a:prstGeom prst="rect">
            <a:avLst/>
          </a:prstGeom>
        </p:spPr>
      </p:pic>
      <p:cxnSp>
        <p:nvCxnSpPr>
          <p:cNvPr id="12" name="Connettore 1 11"/>
          <p:cNvCxnSpPr/>
          <p:nvPr userDrawn="1"/>
        </p:nvCxnSpPr>
        <p:spPr>
          <a:xfrm>
            <a:off x="4367808" y="188640"/>
            <a:ext cx="0" cy="64087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6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 userDrawn="1"/>
        </p:nvSpPr>
        <p:spPr>
          <a:xfrm>
            <a:off x="8773683" y="6173407"/>
            <a:ext cx="3215680" cy="54868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9" name="Immagine 8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416972" y="6165304"/>
            <a:ext cx="2007620" cy="54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5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1" r:id="rId2"/>
    <p:sldLayoutId id="2147483667" r:id="rId3"/>
    <p:sldLayoutId id="2147483669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505" y="116632"/>
            <a:ext cx="2538989" cy="2538989"/>
          </a:xfrm>
          <a:prstGeom prst="rect">
            <a:avLst/>
          </a:prstGeom>
        </p:spPr>
      </p:pic>
      <p:sp>
        <p:nvSpPr>
          <p:cNvPr id="9" name="CasellaDiTesto 8"/>
          <p:cNvSpPr txBox="1"/>
          <p:nvPr userDrawn="1"/>
        </p:nvSpPr>
        <p:spPr>
          <a:xfrm>
            <a:off x="4175787" y="6453336"/>
            <a:ext cx="3840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www.unibo.it</a:t>
            </a:r>
          </a:p>
        </p:txBody>
      </p:sp>
    </p:spTree>
    <p:extLst>
      <p:ext uri="{BB962C8B-B14F-4D97-AF65-F5344CB8AC3E}">
        <p14:creationId xmlns:p14="http://schemas.microsoft.com/office/powerpoint/2010/main" val="18683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limkongkong/airpassengers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lkaline-ml.com/pmdarima/modules/generated/pmdarima.arima.auto_arima.html" TargetMode="Externa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jpe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stefano.spadari@studio.unibo.i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 anchorCtr="0"/>
          <a:lstStyle/>
          <a:p>
            <a:r>
              <a:rPr lang="it-IT" sz="3200" dirty="0"/>
              <a:t>PROJECT WORK ON MACHINE LEARNING AND DATA MINING M</a:t>
            </a:r>
            <a:endParaRPr lang="it-IT" dirty="0"/>
          </a:p>
          <a:p>
            <a:endParaRPr lang="it-IT" sz="320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1"/>
          </p:nvPr>
        </p:nvSpPr>
        <p:spPr>
          <a:xfrm>
            <a:off x="4576863" y="3773435"/>
            <a:ext cx="2240635" cy="1311017"/>
          </a:xfrm>
        </p:spPr>
        <p:txBody>
          <a:bodyPr lIns="91440" tIns="45720" rIns="91440" bIns="45720" anchor="t"/>
          <a:lstStyle/>
          <a:p>
            <a:pPr>
              <a:spcBef>
                <a:spcPts val="0"/>
              </a:spcBef>
            </a:pPr>
            <a:r>
              <a:rPr lang="en-US" sz="1800" b="0" dirty="0">
                <a:latin typeface="Calibri"/>
                <a:ea typeface="Calibri"/>
                <a:cs typeface="Calibri"/>
              </a:rPr>
              <a:t>Presented by</a:t>
            </a:r>
            <a:br>
              <a:rPr lang="en-US" sz="1800" b="0" dirty="0">
                <a:latin typeface="Calibri"/>
                <a:ea typeface="Calibri"/>
                <a:cs typeface="Calibri"/>
              </a:rPr>
            </a:br>
            <a:r>
              <a:rPr lang="en-US" sz="1800" dirty="0">
                <a:latin typeface="Calibri"/>
                <a:ea typeface="Calibri"/>
                <a:cs typeface="Calibri"/>
              </a:rPr>
              <a:t>Stefano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Spadari</a:t>
            </a:r>
            <a:endParaRPr lang="en-US" sz="1800" b="0" dirty="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sz="1800" b="0" dirty="0">
                <a:latin typeface="Calibri"/>
                <a:ea typeface="Calibri"/>
                <a:cs typeface="Calibri"/>
              </a:rPr>
              <a:t>Supervisor</a:t>
            </a:r>
            <a:br>
              <a:rPr lang="en-US" sz="1800" b="0" dirty="0">
                <a:latin typeface="Calibri"/>
                <a:ea typeface="Calibri"/>
                <a:cs typeface="Calibri"/>
              </a:rPr>
            </a:br>
            <a:r>
              <a:rPr lang="en-US" sz="1800" dirty="0">
                <a:latin typeface="Calibri"/>
                <a:ea typeface="Calibri"/>
                <a:cs typeface="Calibri"/>
              </a:rPr>
              <a:t>Prof. Claudio Sartori</a:t>
            </a: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spcBef>
                <a:spcPts val="0"/>
              </a:spcBef>
            </a:pPr>
            <a:endParaRPr lang="it-IT" sz="4000" b="0" dirty="0">
              <a:solidFill>
                <a:srgbClr val="000000"/>
              </a:solidFill>
              <a:latin typeface="Century Gothic"/>
            </a:endParaRPr>
          </a:p>
          <a:p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BABCC1F3-DC03-5659-FA28-8D7F41506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it-IT" b="1" dirty="0">
                <a:latin typeface="Century Gothic"/>
              </a:rPr>
              <a:t>Dipartimento Informatica – Scienze e Ingegneria</a:t>
            </a:r>
          </a:p>
          <a:p>
            <a:r>
              <a:rPr lang="it-IT" b="1" dirty="0">
                <a:latin typeface="Century Gothic"/>
              </a:rPr>
              <a:t>ALMA MATER STUDIORUM - UNIVERSITÀ DI BOLOGNA</a:t>
            </a:r>
          </a:p>
        </p:txBody>
      </p:sp>
    </p:spTree>
    <p:extLst>
      <p:ext uri="{BB962C8B-B14F-4D97-AF65-F5344CB8AC3E}">
        <p14:creationId xmlns:p14="http://schemas.microsoft.com/office/powerpoint/2010/main" val="3085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73E0A2B-6A58-6EB0-177C-E8649D0711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it-IT" sz="2800" dirty="0">
                <a:latin typeface="Century Gothic"/>
              </a:rPr>
              <a:t>THE CHALLENGE</a:t>
            </a:r>
            <a:endParaRPr lang="it-IT" sz="2800" b="0" dirty="0">
              <a:solidFill>
                <a:srgbClr val="000000"/>
              </a:solidFill>
              <a:latin typeface="Century Gothic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EFE01044-51AD-764A-AD3C-C4CBE8837EDF}"/>
              </a:ext>
            </a:extLst>
          </p:cNvPr>
          <p:cNvGrpSpPr/>
          <p:nvPr/>
        </p:nvGrpSpPr>
        <p:grpSpPr>
          <a:xfrm>
            <a:off x="469755" y="1473509"/>
            <a:ext cx="3968645" cy="3632236"/>
            <a:chOff x="609599" y="1339644"/>
            <a:chExt cx="3721510" cy="2932021"/>
          </a:xfrm>
        </p:grpSpPr>
        <p:pic>
          <p:nvPicPr>
            <p:cNvPr id="5" name="Immagine 4" descr="Air Passengers Forecast Dataset">
              <a:extLst>
                <a:ext uri="{FF2B5EF4-FFF2-40B4-BE49-F238E27FC236}">
                  <a16:creationId xmlns:a16="http://schemas.microsoft.com/office/drawing/2014/main" id="{4B753B60-55B5-28A8-4F08-6AF256446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9599" y="1339644"/>
              <a:ext cx="3721510" cy="2372033"/>
            </a:xfrm>
            <a:prstGeom prst="rect">
              <a:avLst/>
            </a:prstGeom>
          </p:spPr>
        </p:pic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0034373E-4A97-4C57-0D5C-48DFC776426D}"/>
                </a:ext>
              </a:extLst>
            </p:cNvPr>
            <p:cNvSpPr txBox="1"/>
            <p:nvPr/>
          </p:nvSpPr>
          <p:spPr>
            <a:xfrm>
              <a:off x="712840" y="3810000"/>
              <a:ext cx="3615812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sz="2400" dirty="0">
                  <a:latin typeface="Century Gothic"/>
                  <a:hlinkClick r:id="rId3"/>
                </a:rPr>
                <a:t>Kaggle - AirPassengers</a:t>
              </a:r>
              <a:r>
                <a:rPr lang="it-IT" sz="2400" dirty="0">
                  <a:latin typeface="Century Gothic"/>
                </a:rPr>
                <a:t> </a:t>
              </a:r>
              <a:endParaRPr lang="it-IT" sz="2400" dirty="0"/>
            </a:p>
          </p:txBody>
        </p:sp>
      </p:grp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7F755AC-56A8-DD55-2A3F-835046F3A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440157"/>
              </p:ext>
            </p:extLst>
          </p:nvPr>
        </p:nvGraphicFramePr>
        <p:xfrm>
          <a:off x="4531550" y="1476183"/>
          <a:ext cx="7247820" cy="36379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79669">
                  <a:extLst>
                    <a:ext uri="{9D8B030D-6E8A-4147-A177-3AD203B41FA5}">
                      <a16:colId xmlns:a16="http://schemas.microsoft.com/office/drawing/2014/main" val="811200782"/>
                    </a:ext>
                  </a:extLst>
                </a:gridCol>
                <a:gridCol w="5168151">
                  <a:extLst>
                    <a:ext uri="{9D8B030D-6E8A-4147-A177-3AD203B41FA5}">
                      <a16:colId xmlns:a16="http://schemas.microsoft.com/office/drawing/2014/main" val="2933358897"/>
                    </a:ext>
                  </a:extLst>
                </a:gridCol>
              </a:tblGrid>
              <a:tr h="90947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 b="1">
                          <a:effectLst/>
                          <a:latin typeface="Calibri"/>
                        </a:rPr>
                        <a:t>Airpassengers:</a:t>
                      </a:r>
                      <a:endParaRPr lang="it-IT">
                        <a:effectLst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>
                          <a:effectLst/>
                          <a:latin typeface="Calibri" panose="020F0502020204030204" pitchFamily="34" charset="0"/>
                        </a:rPr>
                        <a:t>Kaggle time series forecasting challenge</a:t>
                      </a:r>
                      <a:endParaRPr lang="it-IT">
                        <a:effectLst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479704"/>
                  </a:ext>
                </a:extLst>
              </a:tr>
              <a:tr h="90947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 b="1">
                          <a:effectLst/>
                          <a:latin typeface="Calibri" panose="020F0502020204030204" pitchFamily="34" charset="0"/>
                        </a:rPr>
                        <a:t>Dataset:</a:t>
                      </a:r>
                      <a:endParaRPr lang="it-IT">
                        <a:effectLst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>
                          <a:effectLst/>
                          <a:latin typeface="Calibri" panose="020F0502020204030204" pitchFamily="34" charset="0"/>
                        </a:rPr>
                        <a:t>Monthly airline passengers (1949–1960)</a:t>
                      </a:r>
                      <a:endParaRPr lang="it-IT">
                        <a:effectLst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913289"/>
                  </a:ext>
                </a:extLst>
              </a:tr>
              <a:tr h="90947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 b="1">
                          <a:effectLst/>
                          <a:latin typeface="Calibri" panose="020F0502020204030204" pitchFamily="34" charset="0"/>
                        </a:rPr>
                        <a:t>Goal:</a:t>
                      </a:r>
                      <a:endParaRPr lang="it-IT">
                        <a:effectLst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>
                          <a:effectLst/>
                          <a:latin typeface="Calibri"/>
                        </a:rPr>
                        <a:t>Development of an efficient forecasting</a:t>
                      </a:r>
                      <a:br>
                        <a:rPr lang="it-IT" sz="2400" dirty="0">
                          <a:effectLst/>
                          <a:latin typeface="Calibri"/>
                        </a:rPr>
                      </a:br>
                      <a:r>
                        <a:rPr lang="it-IT" sz="2400">
                          <a:effectLst/>
                          <a:latin typeface="Calibri"/>
                        </a:rPr>
                        <a:t>model</a:t>
                      </a:r>
                      <a:endParaRPr lang="it-IT">
                        <a:effectLst/>
                        <a:latin typeface="Calibri"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793270"/>
                  </a:ext>
                </a:extLst>
              </a:tr>
              <a:tr h="90947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 b="1">
                          <a:effectLst/>
                          <a:latin typeface="Calibri" panose="020F0502020204030204" pitchFamily="34" charset="0"/>
                        </a:rPr>
                        <a:t>Purpose:</a:t>
                      </a:r>
                      <a:endParaRPr lang="it-IT">
                        <a:effectLst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2250"/>
                        </a:lnSpc>
                        <a:buNone/>
                      </a:pPr>
                      <a:r>
                        <a:rPr lang="it-IT" sz="2400">
                          <a:effectLst/>
                          <a:latin typeface="Calibri" panose="020F0502020204030204" pitchFamily="34" charset="0"/>
                        </a:rPr>
                        <a:t>Practice and deepen understanding of time series forecasting</a:t>
                      </a:r>
                      <a:endParaRPr lang="it-IT">
                        <a:effectLst/>
                      </a:endParaRPr>
                    </a:p>
                  </a:txBody>
                  <a:tcPr marL="70866" marR="70866" marT="35433" marB="3543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147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03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9712239-833B-D545-1732-C195E6967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it-IT" dirty="0" err="1">
                <a:latin typeface="Century Gothic"/>
              </a:rPr>
              <a:t>What</a:t>
            </a:r>
            <a:r>
              <a:rPr lang="it-IT" dirty="0">
                <a:latin typeface="Century Gothic"/>
              </a:rPr>
              <a:t> are time </a:t>
            </a:r>
            <a:r>
              <a:rPr lang="it-IT" dirty="0" err="1">
                <a:latin typeface="Century Gothic"/>
              </a:rPr>
              <a:t>series</a:t>
            </a:r>
            <a:r>
              <a:rPr lang="it-IT" dirty="0">
                <a:latin typeface="Century Gothic"/>
              </a:rPr>
              <a:t>?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27919F5-04F7-C33D-974E-78576F7474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6064" y="1124691"/>
            <a:ext cx="11129752" cy="1034262"/>
          </a:xfrm>
        </p:spPr>
        <p:txBody>
          <a:bodyPr lIns="91440" tIns="45720" rIns="91440" bIns="45720" anchor="t"/>
          <a:lstStyle/>
          <a:p>
            <a:r>
              <a:rPr lang="it-IT" i="1" dirty="0">
                <a:highlight>
                  <a:srgbClr val="E9EBF0"/>
                </a:highlight>
                <a:latin typeface="Century Gothic"/>
              </a:rPr>
              <a:t>"A </a:t>
            </a:r>
            <a:r>
              <a:rPr lang="it-IT" b="1" i="1" err="1">
                <a:highlight>
                  <a:srgbClr val="E9EBF0"/>
                </a:highlight>
                <a:latin typeface="Century Gothic"/>
              </a:rPr>
              <a:t>sequence</a:t>
            </a:r>
            <a:r>
              <a:rPr lang="it-IT" b="1" i="1" dirty="0">
                <a:highlight>
                  <a:srgbClr val="E9EBF0"/>
                </a:highlight>
                <a:latin typeface="Century Gothic"/>
              </a:rPr>
              <a:t> of data points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 </a:t>
            </a:r>
            <a:r>
              <a:rPr lang="it-IT" i="1" err="1">
                <a:highlight>
                  <a:srgbClr val="E9EBF0"/>
                </a:highlight>
                <a:latin typeface="Century Gothic"/>
              </a:rPr>
              <a:t>indexed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 </a:t>
            </a:r>
            <a:r>
              <a:rPr lang="it-IT" b="1" i="1" dirty="0">
                <a:highlight>
                  <a:srgbClr val="E9EBF0"/>
                </a:highlight>
                <a:latin typeface="Century Gothic"/>
              </a:rPr>
              <a:t>in time </a:t>
            </a:r>
            <a:r>
              <a:rPr lang="it-IT" b="1" i="1" err="1">
                <a:highlight>
                  <a:srgbClr val="E9EBF0"/>
                </a:highlight>
                <a:latin typeface="Century Gothic"/>
              </a:rPr>
              <a:t>order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, </a:t>
            </a:r>
            <a:r>
              <a:rPr lang="it-IT" i="1" err="1">
                <a:highlight>
                  <a:srgbClr val="E9EBF0"/>
                </a:highlight>
                <a:latin typeface="Century Gothic"/>
              </a:rPr>
              <a:t>most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 </a:t>
            </a:r>
            <a:r>
              <a:rPr lang="it-IT" i="1" err="1">
                <a:highlight>
                  <a:srgbClr val="E9EBF0"/>
                </a:highlight>
                <a:latin typeface="Century Gothic"/>
              </a:rPr>
              <a:t>commonly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 </a:t>
            </a:r>
            <a:r>
              <a:rPr lang="it-IT" i="1" err="1">
                <a:highlight>
                  <a:srgbClr val="E9EBF0"/>
                </a:highlight>
                <a:latin typeface="Century Gothic"/>
              </a:rPr>
              <a:t>taken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 </a:t>
            </a:r>
            <a:r>
              <a:rPr lang="it-IT" i="1" err="1">
                <a:highlight>
                  <a:srgbClr val="E9EBF0"/>
                </a:highlight>
                <a:latin typeface="Century Gothic"/>
              </a:rPr>
              <a:t>at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 successive </a:t>
            </a:r>
            <a:r>
              <a:rPr lang="it-IT" b="1" i="1" err="1">
                <a:highlight>
                  <a:srgbClr val="E9EBF0"/>
                </a:highlight>
                <a:latin typeface="Century Gothic"/>
              </a:rPr>
              <a:t>equally</a:t>
            </a:r>
            <a:r>
              <a:rPr lang="it-IT" b="1" i="1" dirty="0">
                <a:highlight>
                  <a:srgbClr val="E9EBF0"/>
                </a:highlight>
                <a:latin typeface="Century Gothic"/>
              </a:rPr>
              <a:t> </a:t>
            </a:r>
            <a:r>
              <a:rPr lang="it-IT" b="1" i="1" err="1">
                <a:highlight>
                  <a:srgbClr val="E9EBF0"/>
                </a:highlight>
                <a:latin typeface="Century Gothic"/>
              </a:rPr>
              <a:t>spaced</a:t>
            </a:r>
            <a:r>
              <a:rPr lang="it-IT" b="1" i="1" dirty="0">
                <a:highlight>
                  <a:srgbClr val="E9EBF0"/>
                </a:highlight>
                <a:latin typeface="Century Gothic"/>
              </a:rPr>
              <a:t> points in time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."</a:t>
            </a:r>
            <a:br>
              <a:rPr lang="it-IT" dirty="0">
                <a:highlight>
                  <a:srgbClr val="E9EBF0"/>
                </a:highlight>
              </a:rPr>
            </a:br>
            <a:r>
              <a:rPr lang="it-IT" dirty="0">
                <a:highlight>
                  <a:srgbClr val="E9EBF0"/>
                </a:highlight>
                <a:latin typeface="Century Gothic"/>
              </a:rPr>
              <a:t>— </a:t>
            </a:r>
            <a:r>
              <a:rPr lang="it-IT" i="1" dirty="0">
                <a:highlight>
                  <a:srgbClr val="E9EBF0"/>
                </a:highlight>
                <a:latin typeface="Century Gothic"/>
              </a:rPr>
              <a:t>Statistical Theory &amp; </a:t>
            </a:r>
            <a:r>
              <a:rPr lang="it-IT" i="1" err="1">
                <a:highlight>
                  <a:srgbClr val="E9EBF0"/>
                </a:highlight>
                <a:latin typeface="Century Gothic"/>
              </a:rPr>
              <a:t>Mathematics</a:t>
            </a:r>
            <a:r>
              <a:rPr lang="it-IT" dirty="0">
                <a:highlight>
                  <a:srgbClr val="E9EBF0"/>
                </a:highlight>
                <a:latin typeface="Century Gothic"/>
              </a:rPr>
              <a:t> </a:t>
            </a:r>
            <a:endParaRPr lang="en-US" dirty="0">
              <a:highlight>
                <a:srgbClr val="E9EBF0"/>
              </a:highlight>
              <a:latin typeface="Century Gothic"/>
            </a:endParaRPr>
          </a:p>
          <a:p>
            <a:pPr algn="ctr"/>
            <a:r>
              <a:rPr lang="it-IT" sz="800" dirty="0">
                <a:solidFill>
                  <a:srgbClr val="56595E"/>
                </a:solidFill>
                <a:highlight>
                  <a:srgbClr val="E9EBF0"/>
                </a:highlight>
              </a:rPr>
              <a:t>Wikipedia</a:t>
            </a:r>
            <a:br>
              <a:rPr lang="it-IT" sz="800" dirty="0">
                <a:highlight>
                  <a:srgbClr val="E9EBF0"/>
                </a:highlight>
              </a:rPr>
            </a:br>
            <a:endParaRPr lang="it-IT" sz="800">
              <a:solidFill>
                <a:srgbClr val="56595E"/>
              </a:solidFill>
              <a:highlight>
                <a:srgbClr val="E9EBF0"/>
              </a:highlight>
            </a:endParaRPr>
          </a:p>
          <a:p>
            <a:endParaRPr lang="it-IT" dirty="0"/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44FD963F-F4A5-AEAC-6D8E-3F36ADCD9C47}"/>
              </a:ext>
            </a:extLst>
          </p:cNvPr>
          <p:cNvSpPr>
            <a:spLocks noGrp="1"/>
          </p:cNvSpPr>
          <p:nvPr/>
        </p:nvSpPr>
        <p:spPr>
          <a:xfrm>
            <a:off x="6149375" y="2349544"/>
            <a:ext cx="5502775" cy="34356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857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5000000000000000000" pitchFamily="2" charset="2"/>
              <a:buChar char="•"/>
            </a:pPr>
            <a:r>
              <a:rPr lang="it-IT" err="1">
                <a:latin typeface="Century Gothic"/>
                <a:ea typeface="Calibri"/>
                <a:cs typeface="Calibri"/>
              </a:rPr>
              <a:t>It</a:t>
            </a:r>
            <a:r>
              <a:rPr lang="it-IT" dirty="0">
                <a:latin typeface="Century Gothic"/>
                <a:ea typeface="Calibri"/>
                <a:cs typeface="Calibri"/>
              </a:rPr>
              <a:t> </a:t>
            </a:r>
            <a:r>
              <a:rPr lang="it-IT" b="1" err="1">
                <a:latin typeface="Century Gothic"/>
                <a:ea typeface="Calibri"/>
                <a:cs typeface="Calibri"/>
              </a:rPr>
              <a:t>captures</a:t>
            </a:r>
            <a:r>
              <a:rPr lang="it-IT" b="1" dirty="0">
                <a:latin typeface="Century Gothic"/>
                <a:ea typeface="Calibri"/>
                <a:cs typeface="Calibri"/>
              </a:rPr>
              <a:t> </a:t>
            </a:r>
            <a:r>
              <a:rPr lang="it-IT" dirty="0">
                <a:latin typeface="Century Gothic"/>
                <a:ea typeface="Calibri"/>
                <a:cs typeface="Calibri"/>
              </a:rPr>
              <a:t>the 'story' of a </a:t>
            </a:r>
            <a:r>
              <a:rPr lang="it-IT" err="1">
                <a:latin typeface="Century Gothic"/>
                <a:ea typeface="Calibri"/>
                <a:cs typeface="Calibri"/>
              </a:rPr>
              <a:t>phenomenon</a:t>
            </a:r>
            <a:endParaRPr lang="it-IT">
              <a:latin typeface="Century Gothic"/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it-IT" err="1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It</a:t>
            </a:r>
            <a:r>
              <a:rPr lang="it-IT" dirty="0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 models </a:t>
            </a:r>
            <a:r>
              <a:rPr lang="it-IT" b="1" err="1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how</a:t>
            </a:r>
            <a:r>
              <a:rPr lang="it-IT" b="1" dirty="0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 a </a:t>
            </a:r>
            <a:r>
              <a:rPr lang="it-IT" b="1" err="1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specific</a:t>
            </a:r>
            <a:r>
              <a:rPr lang="it-IT" b="1" dirty="0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it-IT" b="1" err="1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variable</a:t>
            </a:r>
            <a:r>
              <a:rPr lang="it-IT" b="1" dirty="0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it-IT" b="1" err="1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evolves</a:t>
            </a:r>
            <a:r>
              <a:rPr lang="it-IT" b="1" dirty="0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 and </a:t>
            </a:r>
            <a:r>
              <a:rPr lang="it-IT" b="1" err="1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changes</a:t>
            </a:r>
            <a:r>
              <a:rPr lang="it-IT" b="1" dirty="0">
                <a:solidFill>
                  <a:srgbClr val="000000"/>
                </a:solidFill>
                <a:latin typeface="Century Gothic"/>
                <a:ea typeface="Calibri"/>
                <a:cs typeface="Calibri"/>
              </a:rPr>
              <a:t> over time</a:t>
            </a:r>
            <a:endParaRPr lang="it-IT" b="1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it-IT" dirty="0" err="1">
                <a:solidFill>
                  <a:srgbClr val="000000"/>
                </a:solidFill>
                <a:latin typeface="Century Gothic"/>
              </a:rPr>
              <a:t>It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identifies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hidden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patterns to anticipate future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behavior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,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such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as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:</a:t>
            </a:r>
            <a:endParaRPr lang="it-IT" dirty="0" err="1">
              <a:solidFill>
                <a:srgbClr val="000000"/>
              </a:solidFill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it-IT" b="1" dirty="0">
                <a:solidFill>
                  <a:srgbClr val="000000"/>
                </a:solidFill>
                <a:latin typeface="Century Gothic"/>
              </a:rPr>
              <a:t>Trend: 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The general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direction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of the time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series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(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upward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or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downward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)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it-IT" b="1" dirty="0" err="1">
                <a:solidFill>
                  <a:srgbClr val="000000"/>
                </a:solidFill>
                <a:latin typeface="Century Gothic"/>
              </a:rPr>
              <a:t>Seasonality</a:t>
            </a:r>
            <a:r>
              <a:rPr lang="it-IT" b="1" dirty="0">
                <a:solidFill>
                  <a:srgbClr val="000000"/>
                </a:solidFill>
                <a:latin typeface="Century Gothic"/>
              </a:rPr>
              <a:t>: 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Patterns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that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repeat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at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fixed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intervals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it-IT" b="1" dirty="0" err="1">
                <a:solidFill>
                  <a:srgbClr val="000000"/>
                </a:solidFill>
                <a:latin typeface="Century Gothic"/>
              </a:rPr>
              <a:t>Noise</a:t>
            </a:r>
            <a:r>
              <a:rPr lang="it-IT" b="1" dirty="0">
                <a:solidFill>
                  <a:srgbClr val="000000"/>
                </a:solidFill>
                <a:latin typeface="Century Gothic"/>
              </a:rPr>
              <a:t>: 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Random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variations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and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unpredictable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events.</a:t>
            </a:r>
            <a:br>
              <a:rPr lang="en-US" dirty="0"/>
            </a:br>
            <a:endParaRPr lang="en-US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A3A9B72B-7391-640A-F109-EB88AD3B22CC}"/>
              </a:ext>
            </a:extLst>
          </p:cNvPr>
          <p:cNvGrpSpPr/>
          <p:nvPr/>
        </p:nvGrpSpPr>
        <p:grpSpPr>
          <a:xfrm>
            <a:off x="529539" y="2235027"/>
            <a:ext cx="5562085" cy="3757288"/>
            <a:chOff x="529539" y="2235027"/>
            <a:chExt cx="5551788" cy="3633721"/>
          </a:xfrm>
        </p:grpSpPr>
        <p:pic>
          <p:nvPicPr>
            <p:cNvPr id="4" name="Immagine 3" descr="Immagine che contiene testo, schermata, Diagramma, Carattere&#10;&#10;Il contenuto generato dall&amp;#39;IA potrebbe non essere corretto.">
              <a:extLst>
                <a:ext uri="{FF2B5EF4-FFF2-40B4-BE49-F238E27FC236}">
                  <a16:creationId xmlns:a16="http://schemas.microsoft.com/office/drawing/2014/main" id="{DA07B596-A5F0-9A27-6467-B13CC8146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539" y="2235027"/>
              <a:ext cx="5551788" cy="3263215"/>
            </a:xfrm>
            <a:prstGeom prst="rect">
              <a:avLst/>
            </a:prstGeom>
          </p:spPr>
        </p:pic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E888692B-5BF3-02B5-8C40-BC5AA02DD6D2}"/>
                </a:ext>
              </a:extLst>
            </p:cNvPr>
            <p:cNvSpPr txBox="1"/>
            <p:nvPr/>
          </p:nvSpPr>
          <p:spPr>
            <a:xfrm>
              <a:off x="1938290" y="5502988"/>
              <a:ext cx="2743199" cy="3657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dirty="0" err="1">
                  <a:ea typeface="Calibri"/>
                  <a:cs typeface="Calibri"/>
                </a:rPr>
                <a:t>Airpassengers</a:t>
              </a:r>
              <a:r>
                <a:rPr lang="it-IT" dirty="0">
                  <a:ea typeface="Calibri"/>
                  <a:cs typeface="Calibri"/>
                </a:rPr>
                <a:t> dataset plot</a:t>
              </a:r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6325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4A69C831-63F4-D418-1BC6-5700CFDAB295}"/>
              </a:ext>
            </a:extLst>
          </p:cNvPr>
          <p:cNvSpPr txBox="1">
            <a:spLocks/>
          </p:cNvSpPr>
          <p:nvPr/>
        </p:nvSpPr>
        <p:spPr>
          <a:xfrm>
            <a:off x="516754" y="373701"/>
            <a:ext cx="11233149" cy="648071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b="1" kern="1200">
                <a:solidFill>
                  <a:srgbClr val="BD2B0B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Century Gothic"/>
              </a:rPr>
              <a:t>Time Series Forecasting </a:t>
            </a:r>
            <a:r>
              <a:rPr lang="it-IT" err="1">
                <a:latin typeface="Century Gothic"/>
              </a:rPr>
              <a:t>Approaches</a:t>
            </a:r>
            <a:endParaRPr lang="it-IT"/>
          </a:p>
        </p:txBody>
      </p:sp>
      <p:pic>
        <p:nvPicPr>
          <p:cNvPr id="7" name="Immagine 6" descr="Immagine che contiene testo, lavagna, calligrafi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F433E61D-9504-766E-A5A2-D8D07487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40" y="2854605"/>
            <a:ext cx="2161117" cy="2108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 descr="Immagine che contiene testo, schermata, cerchi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43595EA6-FCF3-49F0-E87D-3AE986A8C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441" y="2854640"/>
            <a:ext cx="3247081" cy="2291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 descr="Immagine che contiene cerchi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49D54CC5-A64C-4F69-E516-99F7D7791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148" y="2944169"/>
            <a:ext cx="2321182" cy="2102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6" name="Gruppo 25">
            <a:extLst>
              <a:ext uri="{FF2B5EF4-FFF2-40B4-BE49-F238E27FC236}">
                <a16:creationId xmlns:a16="http://schemas.microsoft.com/office/drawing/2014/main" id="{6B1A4A8F-2708-3284-15F8-927F705B0E9A}"/>
              </a:ext>
            </a:extLst>
          </p:cNvPr>
          <p:cNvGrpSpPr/>
          <p:nvPr/>
        </p:nvGrpSpPr>
        <p:grpSpPr>
          <a:xfrm>
            <a:off x="556055" y="1126123"/>
            <a:ext cx="3181865" cy="1567316"/>
            <a:chOff x="556055" y="1126123"/>
            <a:chExt cx="3181865" cy="1567316"/>
          </a:xfrm>
        </p:grpSpPr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77D01E88-666B-3C58-4DD0-05E79A108BAB}"/>
                </a:ext>
              </a:extLst>
            </p:cNvPr>
            <p:cNvSpPr txBox="1"/>
            <p:nvPr/>
          </p:nvSpPr>
          <p:spPr>
            <a:xfrm>
              <a:off x="1205928" y="1126123"/>
              <a:ext cx="186792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b="1" dirty="0">
                  <a:ea typeface="Calibri"/>
                  <a:cs typeface="Calibri"/>
                </a:rPr>
                <a:t>Statistical Model</a:t>
              </a:r>
              <a:endParaRPr lang="it-IT" b="1">
                <a:ea typeface="Calibri"/>
                <a:cs typeface="Calibri"/>
              </a:endParaRP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EF68A103-CFEA-0F84-C41C-B0E2A13AA2D8}"/>
                </a:ext>
              </a:extLst>
            </p:cNvPr>
            <p:cNvSpPr txBox="1"/>
            <p:nvPr/>
          </p:nvSpPr>
          <p:spPr>
            <a:xfrm>
              <a:off x="556055" y="1493110"/>
              <a:ext cx="3181865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28600" indent="-228600">
                <a:buFont typeface=""/>
                <a:buChar char="•"/>
              </a:pPr>
              <a:r>
                <a:rPr lang="en-US" b="1" dirty="0"/>
                <a:t>Model-driven</a:t>
              </a:r>
              <a:r>
                <a:rPr lang="en-US" dirty="0"/>
                <a:t> approach</a:t>
              </a:r>
              <a:endParaRPr lang="it-IT">
                <a:ea typeface="Calibri"/>
                <a:cs typeface="Calibri"/>
              </a:endParaRPr>
            </a:p>
            <a:p>
              <a:pPr marL="228600" indent="-228600">
                <a:buFont typeface=""/>
                <a:buChar char="•"/>
              </a:pPr>
              <a:r>
                <a:rPr lang="en-US" dirty="0">
                  <a:ea typeface="Calibri"/>
                  <a:cs typeface="Calibri"/>
                </a:rPr>
                <a:t>Based on </a:t>
              </a:r>
              <a:r>
                <a:rPr lang="en-US" err="1">
                  <a:ea typeface="Calibri"/>
                  <a:cs typeface="Calibri"/>
                </a:rPr>
                <a:t>maths</a:t>
              </a:r>
              <a:r>
                <a:rPr lang="en-US" dirty="0">
                  <a:ea typeface="Calibri"/>
                  <a:cs typeface="Calibri"/>
                </a:rPr>
                <a:t> assumptions</a:t>
              </a:r>
            </a:p>
            <a:p>
              <a:pPr marL="228600" indent="-228600">
                <a:buFont typeface=""/>
                <a:buChar char="•"/>
              </a:pPr>
              <a:r>
                <a:rPr lang="en-US" dirty="0">
                  <a:ea typeface="Calibri"/>
                  <a:cs typeface="Calibri"/>
                </a:rPr>
                <a:t>Require stationary</a:t>
              </a:r>
            </a:p>
            <a:p>
              <a:pPr marL="228600" indent="-228600">
                <a:buFont typeface=""/>
                <a:buChar char="•"/>
              </a:pPr>
              <a:r>
                <a:rPr lang="en-US" dirty="0">
                  <a:ea typeface="Calibri"/>
                  <a:cs typeface="Calibri"/>
                </a:rPr>
                <a:t>Example: ARIMA</a:t>
              </a: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7CB66B1C-F7F7-5E86-DC4A-555F6E406335}"/>
              </a:ext>
            </a:extLst>
          </p:cNvPr>
          <p:cNvGrpSpPr/>
          <p:nvPr/>
        </p:nvGrpSpPr>
        <p:grpSpPr>
          <a:xfrm>
            <a:off x="4036541" y="1122405"/>
            <a:ext cx="3830595" cy="1571032"/>
            <a:chOff x="4180703" y="1122405"/>
            <a:chExt cx="3830595" cy="1571032"/>
          </a:xfrm>
        </p:grpSpPr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23FF03A9-B191-1919-6BA9-630C1F3C80D7}"/>
                </a:ext>
              </a:extLst>
            </p:cNvPr>
            <p:cNvSpPr txBox="1"/>
            <p:nvPr/>
          </p:nvSpPr>
          <p:spPr>
            <a:xfrm>
              <a:off x="5097162" y="1122405"/>
              <a:ext cx="200797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b="1" dirty="0">
                  <a:latin typeface="Calibri"/>
                </a:rPr>
                <a:t>Machine Learning</a:t>
              </a:r>
              <a:endParaRPr lang="it-IT" dirty="0">
                <a:ea typeface="Calibri"/>
                <a:cs typeface="Calibri"/>
              </a:endParaRP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2D8E9891-84BD-771F-9FD8-3BCA433BF3F5}"/>
                </a:ext>
              </a:extLst>
            </p:cNvPr>
            <p:cNvSpPr txBox="1"/>
            <p:nvPr/>
          </p:nvSpPr>
          <p:spPr>
            <a:xfrm>
              <a:off x="4180703" y="1493108"/>
              <a:ext cx="3830595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28600" lvl="0" indent="-228600" algn="ctr" rtl="0">
                <a:buFont typeface=""/>
                <a:buChar char="•"/>
              </a:pPr>
              <a:r>
                <a:rPr lang="en-US" b="1" dirty="0">
                  <a:latin typeface="Calibri"/>
                  <a:ea typeface="Arial"/>
                  <a:cs typeface="Arial"/>
                </a:rPr>
                <a:t>Data-driven</a:t>
              </a:r>
              <a:r>
                <a:rPr lang="en-US" sz="1800" baseline="0" dirty="0">
                  <a:latin typeface="Calibri"/>
                  <a:ea typeface="Arial"/>
                  <a:cs typeface="Arial"/>
                </a:rPr>
                <a:t> approach</a:t>
              </a:r>
              <a:r>
                <a:rPr lang="en-US" sz="1800" dirty="0">
                  <a:latin typeface="Calibri"/>
                  <a:ea typeface="Arial"/>
                  <a:cs typeface="Arial"/>
                </a:rPr>
                <a:t>​</a:t>
              </a:r>
              <a:endParaRPr lang="it-IT">
                <a:ea typeface="Calibri"/>
                <a:cs typeface="Calibri"/>
              </a:endParaRPr>
            </a:p>
            <a:p>
              <a:pPr marL="228600" indent="-228600" algn="ctr">
                <a:buFont typeface=""/>
                <a:buChar char="•"/>
              </a:pPr>
              <a:r>
                <a:rPr lang="en-US" dirty="0">
                  <a:ea typeface="+mn-lt"/>
                  <a:cs typeface="+mn-lt"/>
                </a:rPr>
                <a:t>Time series </a:t>
              </a:r>
              <a:r>
                <a:rPr lang="en-US" err="1">
                  <a:ea typeface="+mn-lt"/>
                  <a:cs typeface="+mn-lt"/>
                </a:rPr>
                <a:t>astabular</a:t>
              </a:r>
              <a:r>
                <a:rPr lang="en-US" dirty="0">
                  <a:ea typeface="+mn-lt"/>
                  <a:cs typeface="+mn-lt"/>
                </a:rPr>
                <a:t> features</a:t>
              </a:r>
              <a:endParaRPr lang="en-US" dirty="0">
                <a:ea typeface="Calibri"/>
                <a:cs typeface="Calibri"/>
              </a:endParaRPr>
            </a:p>
            <a:p>
              <a:pPr marL="228600" indent="-228600" algn="ctr">
                <a:buFont typeface=""/>
                <a:buChar char="•"/>
              </a:pPr>
              <a:r>
                <a:rPr lang="en-US" dirty="0">
                  <a:ea typeface="+mn-lt"/>
                  <a:cs typeface="+mn-lt"/>
                </a:rPr>
                <a:t>Capture non-linear relationship</a:t>
              </a:r>
              <a:endParaRPr lang="en-US" sz="1800" dirty="0">
                <a:ea typeface="+mn-lt"/>
                <a:cs typeface="+mn-lt"/>
              </a:endParaRPr>
            </a:p>
            <a:p>
              <a:pPr marL="228600" indent="-228600" algn="ctr">
                <a:buFont typeface=""/>
                <a:buChar char="•"/>
              </a:pPr>
              <a:r>
                <a:rPr lang="en-US" dirty="0">
                  <a:ea typeface="+mn-lt"/>
                  <a:cs typeface="+mn-lt"/>
                </a:rPr>
                <a:t>Examples</a:t>
              </a:r>
              <a:r>
                <a:rPr lang="en-US" sz="1800" baseline="0" dirty="0">
                  <a:ea typeface="+mn-lt"/>
                  <a:cs typeface="+mn-lt"/>
                </a:rPr>
                <a:t>: </a:t>
              </a:r>
              <a:r>
                <a:rPr lang="en-US" dirty="0">
                  <a:ea typeface="+mn-lt"/>
                  <a:cs typeface="+mn-lt"/>
                </a:rPr>
                <a:t>Random Forest, AdaBoost</a:t>
              </a:r>
              <a:endParaRPr lang="en-US" sz="1800" dirty="0">
                <a:ea typeface="+mn-lt"/>
                <a:cs typeface="+mn-lt"/>
              </a:endParaRPr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4CC3A060-BC49-B2BD-4448-E59C2B07DA9F}"/>
              </a:ext>
            </a:extLst>
          </p:cNvPr>
          <p:cNvGrpSpPr/>
          <p:nvPr/>
        </p:nvGrpSpPr>
        <p:grpSpPr>
          <a:xfrm>
            <a:off x="7558217" y="1127039"/>
            <a:ext cx="4077731" cy="1566398"/>
            <a:chOff x="7671487" y="1127039"/>
            <a:chExt cx="4077731" cy="1566398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A7346A05-3B0B-F8F1-5A07-D8FB430C7950}"/>
                </a:ext>
              </a:extLst>
            </p:cNvPr>
            <p:cNvSpPr txBox="1"/>
            <p:nvPr/>
          </p:nvSpPr>
          <p:spPr>
            <a:xfrm>
              <a:off x="9144000" y="1127039"/>
              <a:ext cx="200797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b="1" dirty="0">
                  <a:latin typeface="Calibri"/>
                </a:rPr>
                <a:t>Deep Learning</a:t>
              </a:r>
              <a:endParaRPr lang="it-IT" dirty="0">
                <a:ea typeface="Calibri"/>
                <a:cs typeface="Calibri"/>
              </a:endParaRP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E360301B-7808-93F6-7967-406E8971A53D}"/>
                </a:ext>
              </a:extLst>
            </p:cNvPr>
            <p:cNvSpPr txBox="1"/>
            <p:nvPr/>
          </p:nvSpPr>
          <p:spPr>
            <a:xfrm>
              <a:off x="7671487" y="1493108"/>
              <a:ext cx="4077731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28600" indent="-228600" algn="r">
                <a:buFont typeface=""/>
                <a:buChar char="•"/>
              </a:pPr>
              <a:r>
                <a:rPr lang="en-US" dirty="0">
                  <a:ea typeface="Calibri"/>
                  <a:cs typeface="Calibri"/>
                </a:rPr>
                <a:t>Sequence-based neural networks</a:t>
              </a:r>
              <a:endParaRPr lang="it-IT">
                <a:ea typeface="Calibri"/>
                <a:cs typeface="Calibri"/>
              </a:endParaRPr>
            </a:p>
            <a:p>
              <a:pPr marL="228600" indent="-228600" algn="r">
                <a:buFont typeface=""/>
                <a:buChar char="•"/>
              </a:pPr>
              <a:r>
                <a:rPr lang="en-US" dirty="0">
                  <a:ea typeface="Calibri"/>
                  <a:cs typeface="Calibri"/>
                </a:rPr>
                <a:t>Learn temporal dependencies by itself</a:t>
              </a:r>
            </a:p>
            <a:p>
              <a:pPr marL="228600" indent="-228600" algn="r">
                <a:buFont typeface=""/>
                <a:buChar char="•"/>
              </a:pPr>
              <a:r>
                <a:rPr lang="en-US" dirty="0">
                  <a:ea typeface="Calibri"/>
                  <a:cs typeface="Calibri"/>
                </a:rPr>
                <a:t>It can capture complex patterns</a:t>
              </a:r>
            </a:p>
            <a:p>
              <a:pPr marL="228600" indent="-228600" algn="r">
                <a:buFont typeface=""/>
                <a:buChar char="•"/>
              </a:pPr>
              <a:r>
                <a:rPr lang="en-US" dirty="0">
                  <a:ea typeface="Calibri"/>
                  <a:cs typeface="Calibri"/>
                </a:rPr>
                <a:t>Example: LSTM</a:t>
              </a:r>
            </a:p>
          </p:txBody>
        </p:sp>
      </p:grp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05ED2A4-AD32-BA04-DE53-415591A1C5CF}"/>
              </a:ext>
            </a:extLst>
          </p:cNvPr>
          <p:cNvSpPr txBox="1"/>
          <p:nvPr/>
        </p:nvSpPr>
        <p:spPr>
          <a:xfrm>
            <a:off x="550334" y="5715000"/>
            <a:ext cx="539961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400">
                <a:ea typeface="Calibri"/>
                <a:cs typeface="Calibri"/>
              </a:rPr>
              <a:t>Models selected: </a:t>
            </a:r>
            <a:r>
              <a:rPr lang="it-IT" sz="2400" b="1">
                <a:ea typeface="Calibri"/>
                <a:cs typeface="Calibri"/>
              </a:rPr>
              <a:t>ARIMA </a:t>
            </a:r>
            <a:r>
              <a:rPr lang="it-IT" sz="2400">
                <a:ea typeface="Calibri"/>
                <a:cs typeface="Calibri"/>
              </a:rPr>
              <a:t>and </a:t>
            </a:r>
            <a:r>
              <a:rPr lang="it-IT" sz="2400" b="1">
                <a:ea typeface="Calibri"/>
                <a:cs typeface="Calibri"/>
              </a:rPr>
              <a:t>LSTM</a:t>
            </a:r>
            <a:endParaRPr lang="it-IT" b="1"/>
          </a:p>
        </p:txBody>
      </p:sp>
    </p:spTree>
    <p:extLst>
      <p:ext uri="{BB962C8B-B14F-4D97-AF65-F5344CB8AC3E}">
        <p14:creationId xmlns:p14="http://schemas.microsoft.com/office/powerpoint/2010/main" val="185550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4200C14-C81A-EB55-FB3C-EB6B5D2CA7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051" y="353106"/>
            <a:ext cx="11233149" cy="648071"/>
          </a:xfrm>
        </p:spPr>
        <p:txBody>
          <a:bodyPr lIns="91440" tIns="45720" rIns="91440" bIns="45720" anchor="ctr"/>
          <a:lstStyle/>
          <a:p>
            <a:r>
              <a:rPr lang="it-IT">
                <a:latin typeface="Century Gothic"/>
              </a:rPr>
              <a:t>ARIMA</a:t>
            </a:r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8BF392-C211-C6CC-481C-D69C02EE9B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213" y="1000982"/>
            <a:ext cx="11603850" cy="695441"/>
          </a:xfrm>
        </p:spPr>
        <p:txBody>
          <a:bodyPr lIns="91440" tIns="45720" rIns="91440" bIns="45720" anchor="t"/>
          <a:lstStyle/>
          <a:p>
            <a:r>
              <a:rPr lang="it-IT" b="1">
                <a:latin typeface="Century Gothic"/>
              </a:rPr>
              <a:t>ARIMA = A</a:t>
            </a:r>
            <a:r>
              <a:rPr lang="it-IT" dirty="0">
                <a:latin typeface="Century Gothic"/>
              </a:rPr>
              <a:t>uto </a:t>
            </a:r>
            <a:r>
              <a:rPr lang="it-IT" b="1" dirty="0">
                <a:latin typeface="Century Gothic"/>
              </a:rPr>
              <a:t>R</a:t>
            </a:r>
            <a:r>
              <a:rPr lang="it-IT" dirty="0">
                <a:latin typeface="Century Gothic"/>
              </a:rPr>
              <a:t>egressive </a:t>
            </a:r>
            <a:r>
              <a:rPr lang="it-IT" b="1" dirty="0">
                <a:latin typeface="Century Gothic"/>
              </a:rPr>
              <a:t>I</a:t>
            </a:r>
            <a:r>
              <a:rPr lang="it-IT" dirty="0">
                <a:latin typeface="Century Gothic"/>
              </a:rPr>
              <a:t>ntegrated </a:t>
            </a:r>
            <a:r>
              <a:rPr lang="it-IT" b="1" dirty="0">
                <a:latin typeface="Century Gothic"/>
              </a:rPr>
              <a:t>M</a:t>
            </a:r>
            <a:r>
              <a:rPr lang="it-IT" dirty="0">
                <a:latin typeface="Century Gothic"/>
              </a:rPr>
              <a:t>oving </a:t>
            </a:r>
            <a:r>
              <a:rPr lang="it-IT" b="1" dirty="0">
                <a:latin typeface="Century Gothic"/>
              </a:rPr>
              <a:t>A</a:t>
            </a:r>
            <a:r>
              <a:rPr lang="it-IT" dirty="0">
                <a:latin typeface="Century Gothic"/>
              </a:rPr>
              <a:t>verage</a:t>
            </a:r>
          </a:p>
          <a:p>
            <a:r>
              <a:rPr lang="it-IT" dirty="0">
                <a:latin typeface="Century Gothic"/>
              </a:rPr>
              <a:t>The main idea is the </a:t>
            </a:r>
            <a:r>
              <a:rPr lang="it-IT" b="1" dirty="0">
                <a:latin typeface="Century Gothic"/>
              </a:rPr>
              <a:t>union </a:t>
            </a:r>
            <a:r>
              <a:rPr lang="it-IT" dirty="0">
                <a:latin typeface="Century Gothic"/>
              </a:rPr>
              <a:t>between </a:t>
            </a:r>
            <a:r>
              <a:rPr lang="it-IT" b="1" dirty="0">
                <a:latin typeface="Century Gothic"/>
              </a:rPr>
              <a:t>AR </a:t>
            </a:r>
            <a:r>
              <a:rPr lang="it-IT">
                <a:latin typeface="Century Gothic"/>
              </a:rPr>
              <a:t>models with </a:t>
            </a:r>
            <a:r>
              <a:rPr lang="it-IT" b="1">
                <a:latin typeface="Century Gothic"/>
              </a:rPr>
              <a:t>MA</a:t>
            </a:r>
            <a:r>
              <a:rPr lang="it-IT">
                <a:latin typeface="Century Gothic"/>
              </a:rPr>
              <a:t>, with the help of </a:t>
            </a:r>
            <a:r>
              <a:rPr lang="it-IT" b="1">
                <a:latin typeface="Century Gothic"/>
              </a:rPr>
              <a:t>Integration</a:t>
            </a:r>
            <a:r>
              <a:rPr lang="it-IT">
                <a:latin typeface="Century Gothic"/>
              </a:rPr>
              <a:t> to reach </a:t>
            </a:r>
            <a:r>
              <a:rPr lang="it-IT" b="1">
                <a:latin typeface="Century Gothic"/>
              </a:rPr>
              <a:t>stationary</a:t>
            </a:r>
            <a:endParaRPr lang="it-IT" b="1"/>
          </a:p>
        </p:txBody>
      </p:sp>
      <p:sp>
        <p:nvSpPr>
          <p:cNvPr id="4" name="Freccia in giù 3">
            <a:extLst>
              <a:ext uri="{FF2B5EF4-FFF2-40B4-BE49-F238E27FC236}">
                <a16:creationId xmlns:a16="http://schemas.microsoft.com/office/drawing/2014/main" id="{8BB27A3E-9B14-B441-3ABA-C85921A8FE2F}"/>
              </a:ext>
            </a:extLst>
          </p:cNvPr>
          <p:cNvSpPr/>
          <p:nvPr/>
        </p:nvSpPr>
        <p:spPr>
          <a:xfrm rot="3600000">
            <a:off x="4418063" y="1679624"/>
            <a:ext cx="391956" cy="690083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reccia in giù 4">
            <a:extLst>
              <a:ext uri="{FF2B5EF4-FFF2-40B4-BE49-F238E27FC236}">
                <a16:creationId xmlns:a16="http://schemas.microsoft.com/office/drawing/2014/main" id="{AF2FFDC8-6494-EC1A-2B81-A193C8C22E92}"/>
              </a:ext>
            </a:extLst>
          </p:cNvPr>
          <p:cNvSpPr/>
          <p:nvPr/>
        </p:nvSpPr>
        <p:spPr>
          <a:xfrm rot="18000000">
            <a:off x="7380462" y="1687011"/>
            <a:ext cx="404246" cy="698053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4895213D-F3EE-2198-7841-6FFB8A6739F1}"/>
              </a:ext>
            </a:extLst>
          </p:cNvPr>
          <p:cNvGrpSpPr/>
          <p:nvPr/>
        </p:nvGrpSpPr>
        <p:grpSpPr>
          <a:xfrm>
            <a:off x="370703" y="2199580"/>
            <a:ext cx="4901513" cy="1606018"/>
            <a:chOff x="370703" y="2652661"/>
            <a:chExt cx="4901513" cy="1606018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B9655462-4A43-6207-D287-2AB59996D667}"/>
                </a:ext>
              </a:extLst>
            </p:cNvPr>
            <p:cNvGrpSpPr/>
            <p:nvPr/>
          </p:nvGrpSpPr>
          <p:grpSpPr>
            <a:xfrm>
              <a:off x="1852368" y="2652661"/>
              <a:ext cx="1764956" cy="433916"/>
              <a:chOff x="2676152" y="3303716"/>
              <a:chExt cx="1764956" cy="433916"/>
            </a:xfrm>
          </p:grpSpPr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E974C71E-2E74-6D0F-497A-5D9E19ACCAB9}"/>
                  </a:ext>
                </a:extLst>
              </p:cNvPr>
              <p:cNvSpPr/>
              <p:nvPr/>
            </p:nvSpPr>
            <p:spPr>
              <a:xfrm>
                <a:off x="2705614" y="3303716"/>
                <a:ext cx="1714499" cy="43391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19DF7BF-7709-DFD8-2916-131824B6985A}"/>
                  </a:ext>
                </a:extLst>
              </p:cNvPr>
              <p:cNvSpPr txBox="1"/>
              <p:nvPr/>
            </p:nvSpPr>
            <p:spPr>
              <a:xfrm>
                <a:off x="2676152" y="3335752"/>
                <a:ext cx="1764956" cy="36576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it-IT">
                    <a:ea typeface="Calibri"/>
                    <a:cs typeface="Calibri"/>
                  </a:rPr>
                  <a:t>Auto Regression</a:t>
                </a:r>
                <a:endParaRPr lang="it-IT"/>
              </a:p>
            </p:txBody>
          </p:sp>
        </p:grp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BF581D58-FCE5-8DE6-6469-B67892227B56}"/>
                </a:ext>
              </a:extLst>
            </p:cNvPr>
            <p:cNvGrpSpPr/>
            <p:nvPr/>
          </p:nvGrpSpPr>
          <p:grpSpPr>
            <a:xfrm>
              <a:off x="370703" y="3171567"/>
              <a:ext cx="4901513" cy="1087112"/>
              <a:chOff x="906162" y="3439297"/>
              <a:chExt cx="4901513" cy="1087112"/>
            </a:xfrm>
          </p:grpSpPr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44C1AF8-5EE6-02F5-14AB-40CB1ADFF411}"/>
                  </a:ext>
                </a:extLst>
              </p:cNvPr>
              <p:cNvSpPr txBox="1"/>
              <p:nvPr/>
            </p:nvSpPr>
            <p:spPr>
              <a:xfrm>
                <a:off x="1230526" y="3880078"/>
                <a:ext cx="395828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GB">
                    <a:ea typeface="+mn-lt"/>
                    <a:cs typeface="+mn-lt"/>
                  </a:rPr>
                  <a:t>Current value depends on past values</a:t>
                </a:r>
                <a:endParaRPr lang="en-GB">
                  <a:ea typeface="Calibri"/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GB">
                    <a:ea typeface="+mn-lt"/>
                    <a:cs typeface="+mn-lt"/>
                  </a:rPr>
                  <a:t>Captures persistence in the series</a:t>
                </a:r>
                <a:endParaRPr lang="en-GB">
                  <a:ea typeface="Calibri"/>
                  <a:cs typeface="Calibri"/>
                </a:endParaRPr>
              </a:p>
            </p:txBody>
          </p:sp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AC27379D-C22B-C344-06BA-7C570438E671}"/>
                  </a:ext>
                </a:extLst>
              </p:cNvPr>
              <p:cNvSpPr txBox="1"/>
              <p:nvPr/>
            </p:nvSpPr>
            <p:spPr>
              <a:xfrm>
                <a:off x="906162" y="3439297"/>
                <a:ext cx="4901513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b="1">
                    <a:solidFill>
                      <a:srgbClr val="0A0A0A"/>
                    </a:solidFill>
                    <a:latin typeface="Google Sans"/>
                    <a:ea typeface="Google Sans"/>
                    <a:cs typeface="Google Sans"/>
                  </a:rPr>
                  <a:t>AR(p):  yₜ = c + φ₁yₜ₋₁ + φ₂yₜ₋₂ + ... + φₚyₜ₋ₚ + </a:t>
                </a:r>
                <a:r>
                  <a:rPr lang="en-US" b="1" dirty="0">
                    <a:solidFill>
                      <a:srgbClr val="0A0A0A"/>
                    </a:solidFill>
                    <a:latin typeface="Google Sans"/>
                    <a:ea typeface="Google Sans"/>
                    <a:cs typeface="Google Sans"/>
                  </a:rPr>
                  <a:t>εₜ</a:t>
                </a:r>
                <a:endParaRPr lang="it-IT" dirty="0"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70496218-164C-6540-2BA2-DA3554757729}"/>
              </a:ext>
            </a:extLst>
          </p:cNvPr>
          <p:cNvGrpSpPr/>
          <p:nvPr/>
        </p:nvGrpSpPr>
        <p:grpSpPr>
          <a:xfrm>
            <a:off x="7002829" y="2199580"/>
            <a:ext cx="4737752" cy="1602872"/>
            <a:chOff x="6961640" y="2652661"/>
            <a:chExt cx="4737752" cy="1602872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DD32C136-637D-D13B-78D4-09F1C0DE0B65}"/>
                </a:ext>
              </a:extLst>
            </p:cNvPr>
            <p:cNvGrpSpPr/>
            <p:nvPr/>
          </p:nvGrpSpPr>
          <p:grpSpPr>
            <a:xfrm>
              <a:off x="8568532" y="2652661"/>
              <a:ext cx="1764956" cy="433916"/>
              <a:chOff x="2676152" y="3303716"/>
              <a:chExt cx="1764956" cy="433916"/>
            </a:xfrm>
          </p:grpSpPr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95A474DB-494E-6BDB-A99C-C25141E224D7}"/>
                  </a:ext>
                </a:extLst>
              </p:cNvPr>
              <p:cNvSpPr/>
              <p:nvPr/>
            </p:nvSpPr>
            <p:spPr>
              <a:xfrm>
                <a:off x="2705614" y="3303716"/>
                <a:ext cx="1714499" cy="43391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47B4E8B8-03CB-936C-EE42-1FC6D7020CF1}"/>
                  </a:ext>
                </a:extLst>
              </p:cNvPr>
              <p:cNvSpPr txBox="1"/>
              <p:nvPr/>
            </p:nvSpPr>
            <p:spPr>
              <a:xfrm>
                <a:off x="2676152" y="3335752"/>
                <a:ext cx="1764956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it-IT">
                    <a:ea typeface="Calibri"/>
                    <a:cs typeface="Calibri"/>
                  </a:rPr>
                  <a:t>Moving Average</a:t>
                </a:r>
              </a:p>
            </p:txBody>
          </p:sp>
        </p:grp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FE9E208C-3EE3-CF4B-174E-D7238FB9AE79}"/>
                </a:ext>
              </a:extLst>
            </p:cNvPr>
            <p:cNvGrpSpPr/>
            <p:nvPr/>
          </p:nvGrpSpPr>
          <p:grpSpPr>
            <a:xfrm>
              <a:off x="6961640" y="3186830"/>
              <a:ext cx="4737752" cy="1068703"/>
              <a:chOff x="6961640" y="3186830"/>
              <a:chExt cx="4737752" cy="1068703"/>
            </a:xfrm>
          </p:grpSpPr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A4299FD1-D519-654A-E6DF-48481F5DCB20}"/>
                  </a:ext>
                </a:extLst>
              </p:cNvPr>
              <p:cNvSpPr txBox="1"/>
              <p:nvPr/>
            </p:nvSpPr>
            <p:spPr>
              <a:xfrm>
                <a:off x="7558214" y="3609202"/>
                <a:ext cx="3902679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 algn="just">
                  <a:buFont typeface=""/>
                  <a:buChar char="•"/>
                </a:pPr>
                <a:r>
                  <a:rPr lang="en-US" dirty="0"/>
                  <a:t>Current value depends on past errors</a:t>
                </a:r>
              </a:p>
              <a:p>
                <a:pPr marL="228600" indent="-228600" algn="just">
                  <a:buFont typeface=""/>
                  <a:buChar char="•"/>
                </a:pPr>
                <a:r>
                  <a:rPr lang="en-US" dirty="0"/>
                  <a:t>Captures shock propagation</a:t>
                </a:r>
              </a:p>
            </p:txBody>
          </p:sp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D8AD37A-37C2-E5C8-609D-7007B15E6F53}"/>
                  </a:ext>
                </a:extLst>
              </p:cNvPr>
              <p:cNvSpPr txBox="1"/>
              <p:nvPr/>
            </p:nvSpPr>
            <p:spPr>
              <a:xfrm>
                <a:off x="6961640" y="3186830"/>
                <a:ext cx="4737752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0A0A0A"/>
                    </a:solidFill>
                    <a:latin typeface="Google Sans"/>
                  </a:rPr>
                  <a:t>MA(q):  yₜ = μ + εₜ + θ₁εₜ₋₁ + θ₂εₜ₋₂ + ... + </a:t>
                </a:r>
                <a:r>
                  <a:rPr lang="en-US" b="1" dirty="0">
                    <a:solidFill>
                      <a:srgbClr val="0A0A0A"/>
                    </a:solidFill>
                    <a:latin typeface="Google Sans"/>
                  </a:rPr>
                  <a:t>θ</a:t>
                </a:r>
                <a:r>
                  <a:rPr lang="en-US" b="1" baseline="-25000" dirty="0">
                    <a:solidFill>
                      <a:srgbClr val="0A0A0A"/>
                    </a:solidFill>
                    <a:latin typeface="Google Sans"/>
                  </a:rPr>
                  <a:t>q</a:t>
                </a:r>
                <a:r>
                  <a:rPr lang="en-US" b="1" dirty="0">
                    <a:solidFill>
                      <a:srgbClr val="0A0A0A"/>
                    </a:solidFill>
                    <a:latin typeface="Google Sans"/>
                  </a:rPr>
                  <a:t>ε</a:t>
                </a:r>
                <a:r>
                  <a:rPr lang="en-US" b="1" baseline="-25000" dirty="0">
                    <a:solidFill>
                      <a:srgbClr val="0A0A0A"/>
                    </a:solidFill>
                    <a:latin typeface="Google Sans"/>
                  </a:rPr>
                  <a:t>t-q</a:t>
                </a:r>
                <a:endParaRPr lang="it-IT" b="1" baseline="-25000">
                  <a:solidFill>
                    <a:srgbClr val="0A0A0A"/>
                  </a:solidFill>
                  <a:latin typeface="Google Sans"/>
                </a:endParaRPr>
              </a:p>
            </p:txBody>
          </p:sp>
        </p:grpSp>
      </p:grpSp>
      <p:sp>
        <p:nvSpPr>
          <p:cNvPr id="15" name="Croce 14">
            <a:extLst>
              <a:ext uri="{FF2B5EF4-FFF2-40B4-BE49-F238E27FC236}">
                <a16:creationId xmlns:a16="http://schemas.microsoft.com/office/drawing/2014/main" id="{6D5AA938-39CE-455F-03FD-52CC966250AE}"/>
              </a:ext>
            </a:extLst>
          </p:cNvPr>
          <p:cNvSpPr/>
          <p:nvPr/>
        </p:nvSpPr>
        <p:spPr>
          <a:xfrm>
            <a:off x="5707362" y="2718153"/>
            <a:ext cx="780534" cy="770237"/>
          </a:xfrm>
          <a:prstGeom prst="mathPlu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llout: freccia a destra 20">
            <a:extLst>
              <a:ext uri="{FF2B5EF4-FFF2-40B4-BE49-F238E27FC236}">
                <a16:creationId xmlns:a16="http://schemas.microsoft.com/office/drawing/2014/main" id="{A4B958C6-71D8-5E99-6414-E5B3236C4378}"/>
              </a:ext>
            </a:extLst>
          </p:cNvPr>
          <p:cNvSpPr/>
          <p:nvPr/>
        </p:nvSpPr>
        <p:spPr>
          <a:xfrm rot="5400000">
            <a:off x="5908986" y="-738416"/>
            <a:ext cx="368644" cy="9739181"/>
          </a:xfrm>
          <a:prstGeom prst="rightArrow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016EA96C-B086-8C7F-93CE-7D48DC3AD89B}"/>
              </a:ext>
            </a:extLst>
          </p:cNvPr>
          <p:cNvGrpSpPr/>
          <p:nvPr/>
        </p:nvGrpSpPr>
        <p:grpSpPr>
          <a:xfrm>
            <a:off x="2232854" y="4402471"/>
            <a:ext cx="7734931" cy="461665"/>
            <a:chOff x="1862151" y="4968824"/>
            <a:chExt cx="7734931" cy="461665"/>
          </a:xfrm>
        </p:grpSpPr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66777EBC-A7FA-EF90-C1D6-AE0E3294993A}"/>
                </a:ext>
              </a:extLst>
            </p:cNvPr>
            <p:cNvSpPr txBox="1"/>
            <p:nvPr/>
          </p:nvSpPr>
          <p:spPr>
            <a:xfrm>
              <a:off x="1862151" y="4968824"/>
              <a:ext cx="1620794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sz="2400" b="1">
                  <a:ea typeface="Calibri"/>
                  <a:cs typeface="Calibri"/>
                </a:rPr>
                <a:t>ARMA(p,q)</a:t>
              </a:r>
            </a:p>
          </p:txBody>
        </p:sp>
        <p:cxnSp>
          <p:nvCxnSpPr>
            <p:cNvPr id="23" name="Connettore 2 22">
              <a:extLst>
                <a:ext uri="{FF2B5EF4-FFF2-40B4-BE49-F238E27FC236}">
                  <a16:creationId xmlns:a16="http://schemas.microsoft.com/office/drawing/2014/main" id="{763E11F7-C654-6A0A-9641-8152D490EB9F}"/>
                </a:ext>
              </a:extLst>
            </p:cNvPr>
            <p:cNvCxnSpPr/>
            <p:nvPr/>
          </p:nvCxnSpPr>
          <p:spPr>
            <a:xfrm flipV="1">
              <a:off x="3592426" y="5196747"/>
              <a:ext cx="399536" cy="20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6F0D46A2-8DA9-CB3B-FCA7-FD53859C57B1}"/>
                </a:ext>
              </a:extLst>
            </p:cNvPr>
            <p:cNvSpPr txBox="1"/>
            <p:nvPr/>
          </p:nvSpPr>
          <p:spPr>
            <a:xfrm>
              <a:off x="4098325" y="4973594"/>
              <a:ext cx="549875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rgbClr val="0A0A0A"/>
                  </a:solidFill>
                  <a:latin typeface="Google Sans"/>
                  <a:ea typeface="Google Sans"/>
                  <a:cs typeface="Google Sans"/>
                </a:rPr>
                <a:t>yₜ = c + εₜ + (φ₁yₜ₋₁ + ... + φₚyₜ₋ₚ) + (θ₁εₜ₋₁ + ... + θ</a:t>
              </a:r>
              <a:r>
                <a:rPr lang="en-US" b="1" baseline="-25000">
                  <a:solidFill>
                    <a:srgbClr val="0A0A0A"/>
                  </a:solidFill>
                  <a:latin typeface="Google Sans"/>
                  <a:ea typeface="Google Sans"/>
                  <a:cs typeface="Google Sans"/>
                </a:rPr>
                <a:t>q</a:t>
              </a:r>
              <a:r>
                <a:rPr lang="en-US" b="1">
                  <a:solidFill>
                    <a:srgbClr val="0A0A0A"/>
                  </a:solidFill>
                  <a:latin typeface="Google Sans"/>
                  <a:ea typeface="Google Sans"/>
                  <a:cs typeface="Google Sans"/>
                </a:rPr>
                <a:t>ε</a:t>
              </a:r>
              <a:r>
                <a:rPr lang="en-US" b="1" baseline="-25000">
                  <a:solidFill>
                    <a:srgbClr val="0A0A0A"/>
                  </a:solidFill>
                  <a:latin typeface="Google Sans"/>
                  <a:ea typeface="Google Sans"/>
                  <a:cs typeface="Google Sans"/>
                </a:rPr>
                <a:t>t-q</a:t>
              </a:r>
              <a:r>
                <a:rPr lang="en-US" b="1" dirty="0">
                  <a:solidFill>
                    <a:srgbClr val="0A0A0A"/>
                  </a:solidFill>
                  <a:latin typeface="Google Sans"/>
                  <a:ea typeface="Google Sans"/>
                  <a:cs typeface="Google Sans"/>
                </a:rPr>
                <a:t>)</a:t>
              </a:r>
              <a:endParaRPr lang="en-US" dirty="0">
                <a:ea typeface="Calibri"/>
                <a:cs typeface="Calibri"/>
              </a:endParaRPr>
            </a:p>
          </p:txBody>
        </p:sp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C2471062-201C-BDBC-F157-BF886CC4A0D5}"/>
              </a:ext>
            </a:extLst>
          </p:cNvPr>
          <p:cNvGrpSpPr/>
          <p:nvPr/>
        </p:nvGrpSpPr>
        <p:grpSpPr>
          <a:xfrm>
            <a:off x="692908" y="5051854"/>
            <a:ext cx="4568145" cy="1130643"/>
            <a:chOff x="651719" y="5072449"/>
            <a:chExt cx="4568145" cy="1130643"/>
          </a:xfrm>
        </p:grpSpPr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D2E936B2-416D-DB38-FD65-81E0E67BDA04}"/>
                </a:ext>
              </a:extLst>
            </p:cNvPr>
            <p:cNvSpPr/>
            <p:nvPr/>
          </p:nvSpPr>
          <p:spPr>
            <a:xfrm>
              <a:off x="651719" y="5084208"/>
              <a:ext cx="4477263" cy="109974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9" name="Elemento grafico 28" descr="Avviso con riempimento a tinta unita">
              <a:extLst>
                <a:ext uri="{FF2B5EF4-FFF2-40B4-BE49-F238E27FC236}">
                  <a16:creationId xmlns:a16="http://schemas.microsoft.com/office/drawing/2014/main" id="{8CC32448-D74B-C5ED-0C6F-4B5D3833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4908" y="5072449"/>
              <a:ext cx="1151238" cy="1130643"/>
            </a:xfrm>
            <a:prstGeom prst="rect">
              <a:avLst/>
            </a:prstGeom>
          </p:spPr>
        </p:pic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9228E15B-4C61-1EB8-DC9D-F90FE689B81D}"/>
                </a:ext>
              </a:extLst>
            </p:cNvPr>
            <p:cNvSpPr txBox="1"/>
            <p:nvPr/>
          </p:nvSpPr>
          <p:spPr>
            <a:xfrm>
              <a:off x="1797044" y="5273877"/>
              <a:ext cx="3422820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sz="2000">
                  <a:ea typeface="Calibri"/>
                  <a:cs typeface="Calibri"/>
                </a:rPr>
                <a:t>Before applying ARMA the time series must be stationary</a:t>
              </a:r>
            </a:p>
          </p:txBody>
        </p:sp>
      </p:grpSp>
      <p:sp>
        <p:nvSpPr>
          <p:cNvPr id="33" name="Freccia destra rientrata 32">
            <a:extLst>
              <a:ext uri="{FF2B5EF4-FFF2-40B4-BE49-F238E27FC236}">
                <a16:creationId xmlns:a16="http://schemas.microsoft.com/office/drawing/2014/main" id="{9A3BE470-1E2C-0DBD-3F93-350AB85C21C6}"/>
              </a:ext>
            </a:extLst>
          </p:cNvPr>
          <p:cNvSpPr/>
          <p:nvPr/>
        </p:nvSpPr>
        <p:spPr>
          <a:xfrm>
            <a:off x="5273544" y="5342635"/>
            <a:ext cx="823948" cy="371362"/>
          </a:xfrm>
          <a:prstGeom prst="notched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3056369-DDC4-6516-F927-D544E570AB70}"/>
              </a:ext>
            </a:extLst>
          </p:cNvPr>
          <p:cNvSpPr txBox="1"/>
          <p:nvPr/>
        </p:nvSpPr>
        <p:spPr>
          <a:xfrm>
            <a:off x="6146489" y="5199820"/>
            <a:ext cx="24651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u="sng">
                <a:ea typeface="Calibri"/>
                <a:cs typeface="Calibri"/>
              </a:rPr>
              <a:t>Applying differencing (d)</a:t>
            </a:r>
            <a:endParaRPr lang="it-IT" u="sng"/>
          </a:p>
        </p:txBody>
      </p:sp>
      <p:sp>
        <p:nvSpPr>
          <p:cNvPr id="35" name="Freccia destra con strisce 34">
            <a:extLst>
              <a:ext uri="{FF2B5EF4-FFF2-40B4-BE49-F238E27FC236}">
                <a16:creationId xmlns:a16="http://schemas.microsoft.com/office/drawing/2014/main" id="{B2DE2FE7-4DA2-6449-2BB2-DC20AEB3CDE1}"/>
              </a:ext>
            </a:extLst>
          </p:cNvPr>
          <p:cNvSpPr/>
          <p:nvPr/>
        </p:nvSpPr>
        <p:spPr>
          <a:xfrm>
            <a:off x="8667666" y="5284506"/>
            <a:ext cx="978407" cy="484631"/>
          </a:xfrm>
          <a:prstGeom prst="mathEqual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CC41BAB-A341-A55E-8A24-EB3B880C58B3}"/>
              </a:ext>
            </a:extLst>
          </p:cNvPr>
          <p:cNvSpPr txBox="1"/>
          <p:nvPr/>
        </p:nvSpPr>
        <p:spPr>
          <a:xfrm>
            <a:off x="9642920" y="5299460"/>
            <a:ext cx="20532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400" b="1" u="sng">
                <a:ea typeface="Calibri"/>
                <a:cs typeface="Calibri"/>
              </a:rPr>
              <a:t>ARIMA (p,d,q)</a:t>
            </a:r>
          </a:p>
        </p:txBody>
      </p:sp>
    </p:spTree>
    <p:extLst>
      <p:ext uri="{BB962C8B-B14F-4D97-AF65-F5344CB8AC3E}">
        <p14:creationId xmlns:p14="http://schemas.microsoft.com/office/powerpoint/2010/main" val="184358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  <p:bldP spid="21" grpId="0" animBg="1"/>
      <p:bldP spid="33" grpId="0" animBg="1"/>
      <p:bldP spid="34" grpId="0"/>
      <p:bldP spid="35" grpId="0" animBg="1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34B2285-8BD2-7582-975B-1D6D837D4E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890" y="329190"/>
            <a:ext cx="11233149" cy="648071"/>
          </a:xfrm>
        </p:spPr>
        <p:txBody>
          <a:bodyPr lIns="91440" tIns="45720" rIns="91440" bIns="45720" anchor="t"/>
          <a:lstStyle/>
          <a:p>
            <a:r>
              <a:rPr lang="it-IT" dirty="0">
                <a:latin typeface="Century Gothic"/>
              </a:rPr>
              <a:t>ARIMA: </a:t>
            </a:r>
            <a:r>
              <a:rPr lang="it-IT" dirty="0" err="1">
                <a:latin typeface="Century Gothic"/>
              </a:rPr>
              <a:t>implementation</a:t>
            </a:r>
            <a:endParaRPr lang="it-IT" dirty="0" err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8FC2600-F1DB-35C8-B4E0-2CEDAAFDAF3B}"/>
              </a:ext>
            </a:extLst>
          </p:cNvPr>
          <p:cNvSpPr txBox="1"/>
          <p:nvPr/>
        </p:nvSpPr>
        <p:spPr>
          <a:xfrm>
            <a:off x="475227" y="5288702"/>
            <a:ext cx="40435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en-GB" b="1">
                <a:latin typeface="Century Gothic"/>
              </a:rPr>
              <a:t>Order: </a:t>
            </a:r>
            <a:r>
              <a:rPr lang="en-GB">
                <a:latin typeface="Century Gothic"/>
              </a:rPr>
              <a:t>(p</a:t>
            </a:r>
            <a:r>
              <a:rPr lang="en-GB" sz="1800" baseline="0">
                <a:latin typeface="Century Gothic"/>
              </a:rPr>
              <a:t>=2, </a:t>
            </a:r>
            <a:r>
              <a:rPr lang="en-GB">
                <a:latin typeface="Century Gothic"/>
              </a:rPr>
              <a:t>d=1, q</a:t>
            </a:r>
            <a:r>
              <a:rPr lang="en-GB" sz="1800" baseline="0">
                <a:latin typeface="Century Gothic"/>
              </a:rPr>
              <a:t>=1</a:t>
            </a:r>
            <a:r>
              <a:rPr lang="en-GB">
                <a:latin typeface="Century Gothic"/>
              </a:rPr>
              <a:t>)</a:t>
            </a:r>
            <a:endParaRPr lang="en-GB">
              <a:latin typeface="Calibri"/>
              <a:ea typeface="Calibri"/>
              <a:cs typeface="Calibri"/>
            </a:endParaRPr>
          </a:p>
          <a:p>
            <a:pPr marL="285750" indent="-285750" algn="ctr">
              <a:buFont typeface="Arial"/>
              <a:buChar char="•"/>
            </a:pPr>
            <a:r>
              <a:rPr lang="en-GB" b="1">
                <a:latin typeface="Century Gothic"/>
              </a:rPr>
              <a:t>Seasonal: </a:t>
            </a:r>
            <a:r>
              <a:rPr lang="en-GB">
                <a:latin typeface="Century Gothic"/>
              </a:rPr>
              <a:t>(</a:t>
            </a:r>
            <a:r>
              <a:rPr lang="en-GB" sz="1800" baseline="0">
                <a:latin typeface="Century Gothic"/>
              </a:rPr>
              <a:t>P=1, </a:t>
            </a:r>
            <a:r>
              <a:rPr lang="en-GB">
                <a:latin typeface="Century Gothic"/>
              </a:rPr>
              <a:t>D=0, </a:t>
            </a:r>
            <a:r>
              <a:rPr lang="en-GB" sz="1800" baseline="0">
                <a:latin typeface="Century Gothic"/>
              </a:rPr>
              <a:t>Q=1, s=12</a:t>
            </a:r>
            <a:r>
              <a:rPr lang="en-GB">
                <a:latin typeface="Century Gothic"/>
              </a:rPr>
              <a:t>)</a:t>
            </a:r>
            <a:endParaRPr lang="en-GB">
              <a:ea typeface="Calibri"/>
              <a:cs typeface="Calibri"/>
            </a:endParaRP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45A742C1-5B8C-6A27-D1F4-83DAD5E208D0}"/>
              </a:ext>
            </a:extLst>
          </p:cNvPr>
          <p:cNvGrpSpPr>
            <a:grpSpLocks noUngrp="1" noChangeAspect="1"/>
          </p:cNvGrpSpPr>
          <p:nvPr/>
        </p:nvGrpSpPr>
        <p:grpSpPr>
          <a:xfrm>
            <a:off x="939801" y="1902883"/>
            <a:ext cx="2653455" cy="2649222"/>
            <a:chOff x="781051" y="2061633"/>
            <a:chExt cx="2747434" cy="2743200"/>
          </a:xfrm>
        </p:grpSpPr>
        <p:pic>
          <p:nvPicPr>
            <p:cNvPr id="10" name="Elemento grafico 9" descr="Pensiero con riempimento a tinta unita">
              <a:extLst>
                <a:ext uri="{FF2B5EF4-FFF2-40B4-BE49-F238E27FC236}">
                  <a16:creationId xmlns:a16="http://schemas.microsoft.com/office/drawing/2014/main" id="{D085212E-0408-F70F-2D14-496A99145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051" y="2061633"/>
              <a:ext cx="2747434" cy="2743200"/>
            </a:xfrm>
            <a:prstGeom prst="rect">
              <a:avLst/>
            </a:prstGeom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72C76724-8EBC-7C00-C867-16EE7A0719C3}"/>
                </a:ext>
              </a:extLst>
            </p:cNvPr>
            <p:cNvSpPr txBox="1"/>
            <p:nvPr/>
          </p:nvSpPr>
          <p:spPr>
            <a:xfrm>
              <a:off x="1566333" y="2561166"/>
              <a:ext cx="1557868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>
                  <a:solidFill>
                    <a:schemeClr val="bg1"/>
                  </a:solidFill>
                  <a:ea typeface="Calibri"/>
                  <a:cs typeface="Calibri"/>
                </a:rPr>
                <a:t>How to select (p,d,q)?</a:t>
              </a:r>
              <a:endParaRPr lang="it-IT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E9E98F9-D0A7-A304-C5AA-DE763EE5C8A7}"/>
              </a:ext>
            </a:extLst>
          </p:cNvPr>
          <p:cNvSpPr txBox="1"/>
          <p:nvPr/>
        </p:nvSpPr>
        <p:spPr>
          <a:xfrm>
            <a:off x="479323" y="890707"/>
            <a:ext cx="54323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b="1" dirty="0"/>
              <a:t>Requirements</a:t>
            </a:r>
            <a:r>
              <a:rPr lang="it-IT" b="1" dirty="0"/>
              <a:t>​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en-GB" dirty="0"/>
              <a:t>Selection </a:t>
            </a:r>
            <a:r>
              <a:rPr lang="en-US" dirty="0"/>
              <a:t>of three parameters: (p, d, q)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Time series stationary with </a:t>
            </a:r>
            <a:r>
              <a:rPr lang="en-US" err="1">
                <a:ea typeface="Calibri"/>
                <a:cs typeface="Calibri"/>
              </a:rPr>
              <a:t>differentation</a:t>
            </a:r>
            <a:r>
              <a:rPr lang="en-US" dirty="0">
                <a:ea typeface="Calibri"/>
                <a:cs typeface="Calibri"/>
              </a:rPr>
              <a:t> order of d</a:t>
            </a:r>
          </a:p>
        </p:txBody>
      </p:sp>
      <p:pic>
        <p:nvPicPr>
          <p:cNvPr id="13" name="Elemento grafico 12" descr="Bivio stradale con riempimento a tinta unita">
            <a:extLst>
              <a:ext uri="{FF2B5EF4-FFF2-40B4-BE49-F238E27FC236}">
                <a16:creationId xmlns:a16="http://schemas.microsoft.com/office/drawing/2014/main" id="{088A23EB-871F-42AB-9FF8-E6CCE72F8E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850789" y="2271297"/>
            <a:ext cx="649817" cy="88265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8ADDA3F-DD1C-8C71-9AA1-1412617666DA}"/>
              </a:ext>
            </a:extLst>
          </p:cNvPr>
          <p:cNvSpPr txBox="1"/>
          <p:nvPr/>
        </p:nvSpPr>
        <p:spPr>
          <a:xfrm>
            <a:off x="3651250" y="1979083"/>
            <a:ext cx="1547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ea typeface="Calibri"/>
                <a:cs typeface="Calibri"/>
              </a:rPr>
              <a:t>Automatically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4198A638-3187-8168-8092-A2590D713CA0}"/>
              </a:ext>
            </a:extLst>
          </p:cNvPr>
          <p:cNvCxnSpPr>
            <a:cxnSpLocks/>
          </p:cNvCxnSpPr>
          <p:nvPr/>
        </p:nvCxnSpPr>
        <p:spPr>
          <a:xfrm>
            <a:off x="5196416" y="2159000"/>
            <a:ext cx="910337" cy="4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1F3EB38-82C6-4587-1615-73CFB50452B6}"/>
              </a:ext>
            </a:extLst>
          </p:cNvPr>
          <p:cNvSpPr txBox="1"/>
          <p:nvPr/>
        </p:nvSpPr>
        <p:spPr>
          <a:xfrm>
            <a:off x="6265334" y="1979082"/>
            <a:ext cx="5484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 err="1">
                <a:ea typeface="Calibri"/>
                <a:cs typeface="Calibri"/>
              </a:rPr>
              <a:t>AutoARIMA</a:t>
            </a:r>
            <a:r>
              <a:rPr lang="en-GB" dirty="0">
                <a:ea typeface="Calibri"/>
                <a:cs typeface="Calibri"/>
              </a:rPr>
              <a:t> from </a:t>
            </a:r>
            <a:r>
              <a:rPr lang="en-GB" dirty="0" err="1">
                <a:ea typeface="Calibri"/>
                <a:cs typeface="Calibri"/>
                <a:hlinkClick r:id="rId6"/>
              </a:rPr>
              <a:t>pmdarima</a:t>
            </a:r>
            <a:r>
              <a:rPr lang="en-GB" dirty="0">
                <a:ea typeface="Calibri"/>
                <a:cs typeface="Calibri"/>
              </a:rPr>
              <a:t> selects them automatically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9E97B43-5A06-F849-35A2-EED27C23F5A8}"/>
              </a:ext>
            </a:extLst>
          </p:cNvPr>
          <p:cNvSpPr txBox="1"/>
          <p:nvPr/>
        </p:nvSpPr>
        <p:spPr>
          <a:xfrm>
            <a:off x="3630083" y="3037416"/>
            <a:ext cx="1547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ea typeface="Calibri"/>
                <a:cs typeface="Calibri"/>
              </a:rPr>
              <a:t>Manually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CCA66981-EA1C-FEB7-149D-CC18F900ECD5}"/>
              </a:ext>
            </a:extLst>
          </p:cNvPr>
          <p:cNvCxnSpPr>
            <a:cxnSpLocks/>
          </p:cNvCxnSpPr>
          <p:nvPr/>
        </p:nvCxnSpPr>
        <p:spPr>
          <a:xfrm>
            <a:off x="5196416" y="3227916"/>
            <a:ext cx="910337" cy="4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E0BF03A-5823-8813-98E9-BCC70D01CBDE}"/>
              </a:ext>
            </a:extLst>
          </p:cNvPr>
          <p:cNvSpPr txBox="1"/>
          <p:nvPr/>
        </p:nvSpPr>
        <p:spPr>
          <a:xfrm>
            <a:off x="7006167" y="3037416"/>
            <a:ext cx="32935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Selected looking at ACF and PACF</a:t>
            </a:r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0834BDB5-545B-88B8-B684-4A611817156C}"/>
              </a:ext>
            </a:extLst>
          </p:cNvPr>
          <p:cNvGrpSpPr>
            <a:grpSpLocks noUngrp="1" noChangeAspect="1"/>
          </p:cNvGrpSpPr>
          <p:nvPr/>
        </p:nvGrpSpPr>
        <p:grpSpPr>
          <a:xfrm>
            <a:off x="5300663" y="3412065"/>
            <a:ext cx="6713006" cy="2192019"/>
            <a:chOff x="6221413" y="3433232"/>
            <a:chExt cx="5570009" cy="1727202"/>
          </a:xfrm>
        </p:grpSpPr>
        <p:pic>
          <p:nvPicPr>
            <p:cNvPr id="23" name="Immagine 22" descr="Immagine che contiene testo, diagramma, schermata, line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4FDDBC5E-49D5-9D76-DD4F-7B95B14A6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21413" y="3433232"/>
              <a:ext cx="2786592" cy="1727201"/>
            </a:xfrm>
            <a:prstGeom prst="rect">
              <a:avLst/>
            </a:prstGeom>
          </p:spPr>
        </p:pic>
        <p:pic>
          <p:nvPicPr>
            <p:cNvPr id="24" name="Immagine 23" descr="Immagine che contiene testo, schermata, linea, diagramm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C1809E85-347B-611A-9152-A7645DA3F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04830" y="3433233"/>
              <a:ext cx="2786592" cy="17272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42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1">
            <a:extLst>
              <a:ext uri="{FF2B5EF4-FFF2-40B4-BE49-F238E27FC236}">
                <a16:creationId xmlns:a16="http://schemas.microsoft.com/office/drawing/2014/main" id="{0E92F281-70DD-B0D4-192A-74A361523B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890" y="329190"/>
            <a:ext cx="11233149" cy="648071"/>
          </a:xfrm>
        </p:spPr>
        <p:txBody>
          <a:bodyPr lIns="91440" tIns="45720" rIns="91440" bIns="45720" anchor="t"/>
          <a:lstStyle/>
          <a:p>
            <a:r>
              <a:rPr lang="it-IT" dirty="0">
                <a:latin typeface="Century Gothic"/>
              </a:rPr>
              <a:t>ARIMA: </a:t>
            </a:r>
            <a:r>
              <a:rPr lang="it-IT" dirty="0" err="1">
                <a:latin typeface="Century Gothic"/>
              </a:rPr>
              <a:t>results</a:t>
            </a:r>
            <a:endParaRPr lang="it-IT" dirty="0" err="1"/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D2EDE263-3707-138A-3B87-1E712731A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536603"/>
              </p:ext>
            </p:extLst>
          </p:nvPr>
        </p:nvGraphicFramePr>
        <p:xfrm>
          <a:off x="4447436" y="4664342"/>
          <a:ext cx="3309296" cy="179192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022249">
                  <a:extLst>
                    <a:ext uri="{9D8B030D-6E8A-4147-A177-3AD203B41FA5}">
                      <a16:colId xmlns:a16="http://schemas.microsoft.com/office/drawing/2014/main" val="750035498"/>
                    </a:ext>
                  </a:extLst>
                </a:gridCol>
                <a:gridCol w="687886">
                  <a:extLst>
                    <a:ext uri="{9D8B030D-6E8A-4147-A177-3AD203B41FA5}">
                      <a16:colId xmlns:a16="http://schemas.microsoft.com/office/drawing/2014/main" val="2818697110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4088892365"/>
                    </a:ext>
                  </a:extLst>
                </a:gridCol>
                <a:gridCol w="941281">
                  <a:extLst>
                    <a:ext uri="{9D8B030D-6E8A-4147-A177-3AD203B41FA5}">
                      <a16:colId xmlns:a16="http://schemas.microsoft.com/office/drawing/2014/main" val="1825606679"/>
                    </a:ext>
                  </a:extLst>
                </a:gridCol>
              </a:tblGrid>
              <a:tr h="3441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40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Model</a:t>
                      </a:r>
                      <a:endParaRPr lang="it-IT" sz="140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40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it-IT" sz="140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40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it-IT" sz="140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u="none" strike="noStrike" noProof="0" dirty="0">
                          <a:solidFill>
                            <a:srgbClr val="000000"/>
                          </a:solidFill>
                        </a:rPr>
                        <a:t>MAPE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797140"/>
                  </a:ext>
                </a:extLst>
              </a:tr>
              <a:tr h="15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dirty="0">
                          <a:effectLst/>
                        </a:rPr>
                        <a:t>SARIMA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14.47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11.43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2.51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75692575"/>
                  </a:ext>
                </a:extLst>
              </a:tr>
              <a:tr h="15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dirty="0">
                          <a:effectLst/>
                        </a:rPr>
                        <a:t>ARIMA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107.84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81.87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16.26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93508612"/>
                  </a:ext>
                </a:extLst>
              </a:tr>
              <a:tr h="15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err="1">
                          <a:effectLst/>
                        </a:rPr>
                        <a:t>AutoARIMA</a:t>
                      </a:r>
                      <a:endParaRPr lang="it-IT" sz="14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107.84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81.87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16.26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88426841"/>
                  </a:ext>
                </a:extLst>
              </a:tr>
              <a:tr h="15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dirty="0">
                          <a:effectLst/>
                        </a:rPr>
                        <a:t>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128.52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105.03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21.29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978647013"/>
                  </a:ext>
                </a:extLst>
              </a:tr>
              <a:tr h="15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400" dirty="0">
                          <a:effectLst/>
                        </a:rPr>
                        <a:t>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128.53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105.08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21.30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81844474"/>
                  </a:ext>
                </a:extLst>
              </a:tr>
            </a:tbl>
          </a:graphicData>
        </a:graphic>
      </p:graphicFrame>
      <p:grpSp>
        <p:nvGrpSpPr>
          <p:cNvPr id="2" name="Gruppo 1">
            <a:extLst>
              <a:ext uri="{FF2B5EF4-FFF2-40B4-BE49-F238E27FC236}">
                <a16:creationId xmlns:a16="http://schemas.microsoft.com/office/drawing/2014/main" id="{B77D68DC-C673-C48B-2F7D-53B448A92968}"/>
              </a:ext>
            </a:extLst>
          </p:cNvPr>
          <p:cNvGrpSpPr/>
          <p:nvPr/>
        </p:nvGrpSpPr>
        <p:grpSpPr>
          <a:xfrm>
            <a:off x="774656" y="766250"/>
            <a:ext cx="10647195" cy="3515391"/>
            <a:chOff x="486331" y="920710"/>
            <a:chExt cx="10091142" cy="3391823"/>
          </a:xfrm>
        </p:grpSpPr>
        <p:pic>
          <p:nvPicPr>
            <p:cNvPr id="7" name="Immagine 6" descr="Immagine che contiene testo, diagramma, Diagramma, line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D333730B-95F3-5EE3-E249-1710F81BC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331" y="920710"/>
              <a:ext cx="5392395" cy="3383744"/>
            </a:xfrm>
            <a:prstGeom prst="rect">
              <a:avLst/>
            </a:prstGeom>
          </p:spPr>
        </p:pic>
        <p:pic>
          <p:nvPicPr>
            <p:cNvPr id="13" name="Immagine 12" descr="Immagine che contiene testo, schermata, diagramma, Policromi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9AA532F5-E948-E520-D76C-E59E9790E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2261" y="923476"/>
              <a:ext cx="4695212" cy="3389057"/>
            </a:xfrm>
            <a:prstGeom prst="rect">
              <a:avLst/>
            </a:prstGeom>
          </p:spPr>
        </p:pic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8C7234F-CC85-2E6F-A942-2A2F6724FBBC}"/>
              </a:ext>
            </a:extLst>
          </p:cNvPr>
          <p:cNvSpPr txBox="1"/>
          <p:nvPr/>
        </p:nvSpPr>
        <p:spPr>
          <a:xfrm>
            <a:off x="770009" y="4815989"/>
            <a:ext cx="329925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ea typeface="Calibri"/>
                <a:cs typeface="Calibri"/>
              </a:rPr>
              <a:t>Model tested:</a:t>
            </a:r>
            <a:endParaRPr lang="it-IT" b="1" dirty="0"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it-IT">
                <a:ea typeface="Calibri"/>
                <a:cs typeface="Calibri"/>
              </a:rPr>
              <a:t>AR(2)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>
                <a:ea typeface="Calibri"/>
                <a:cs typeface="Calibri"/>
              </a:rPr>
              <a:t>MA(1)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ea typeface="Calibri"/>
                <a:cs typeface="Calibri"/>
              </a:rPr>
              <a:t>ARIMA(2,1,1)</a:t>
            </a:r>
            <a:endParaRPr lang="it-IT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it-IT">
                <a:ea typeface="Calibri"/>
                <a:cs typeface="Calibri"/>
              </a:rPr>
              <a:t>SARIMA(2,1,1)(1,0,1)(12)</a:t>
            </a:r>
            <a:endParaRPr lang="it-IT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448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BA3911F-4422-73AA-E22B-5DA2C86F5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>
                <a:latin typeface="Century Gothic"/>
              </a:rPr>
              <a:t>LSTM</a:t>
            </a:r>
            <a:endParaRPr lang="it-IT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56251A55-CCD1-F203-E225-4CCBC2C6AA11}"/>
              </a:ext>
            </a:extLst>
          </p:cNvPr>
          <p:cNvGrpSpPr/>
          <p:nvPr/>
        </p:nvGrpSpPr>
        <p:grpSpPr>
          <a:xfrm>
            <a:off x="1651000" y="1132416"/>
            <a:ext cx="3126316" cy="2015067"/>
            <a:chOff x="1312333" y="1037166"/>
            <a:chExt cx="3126316" cy="2015067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E8CBE056-89B7-ACA3-854E-05F7FD33EEF3}"/>
                </a:ext>
              </a:extLst>
            </p:cNvPr>
            <p:cNvSpPr/>
            <p:nvPr/>
          </p:nvSpPr>
          <p:spPr>
            <a:xfrm>
              <a:off x="1312333" y="1037166"/>
              <a:ext cx="3126316" cy="201506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9DA6BC48-5F7B-B886-297A-1DD2591D1A30}"/>
                </a:ext>
              </a:extLst>
            </p:cNvPr>
            <p:cNvSpPr txBox="1"/>
            <p:nvPr/>
          </p:nvSpPr>
          <p:spPr>
            <a:xfrm>
              <a:off x="2022846" y="2619448"/>
              <a:ext cx="171518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b="1" dirty="0" err="1">
                  <a:ea typeface="Calibri"/>
                  <a:cs typeface="Calibri"/>
                </a:rPr>
                <a:t>Neural</a:t>
              </a:r>
              <a:r>
                <a:rPr lang="it-IT" b="1" dirty="0">
                  <a:ea typeface="Calibri"/>
                  <a:cs typeface="Calibri"/>
                </a:rPr>
                <a:t> Network</a:t>
              </a:r>
            </a:p>
          </p:txBody>
        </p:sp>
        <p:pic>
          <p:nvPicPr>
            <p:cNvPr id="7" name="Immagine 6" descr="Immagine che contiene diagramma, testo, schermata, line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164E0CBC-A338-6965-D86F-02ADD5812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6267" y="1123992"/>
              <a:ext cx="2848233" cy="1462474"/>
            </a:xfrm>
            <a:prstGeom prst="rect">
              <a:avLst/>
            </a:prstGeom>
          </p:spPr>
        </p:pic>
      </p:grp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F9C40521-07E0-A093-A7D8-451C9F313795}"/>
              </a:ext>
            </a:extLst>
          </p:cNvPr>
          <p:cNvSpPr/>
          <p:nvPr/>
        </p:nvSpPr>
        <p:spPr>
          <a:xfrm>
            <a:off x="5384055" y="1897277"/>
            <a:ext cx="978407" cy="48463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7D3A7578-860A-BD94-96C8-04F84618FB92}"/>
              </a:ext>
            </a:extLst>
          </p:cNvPr>
          <p:cNvGrpSpPr/>
          <p:nvPr/>
        </p:nvGrpSpPr>
        <p:grpSpPr>
          <a:xfrm>
            <a:off x="6858000" y="1132417"/>
            <a:ext cx="4318001" cy="2015912"/>
            <a:chOff x="6519333" y="1047750"/>
            <a:chExt cx="4318001" cy="2004482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534512BB-E8DB-FFC4-B98F-A25588C221A3}"/>
                </a:ext>
              </a:extLst>
            </p:cNvPr>
            <p:cNvSpPr/>
            <p:nvPr/>
          </p:nvSpPr>
          <p:spPr>
            <a:xfrm>
              <a:off x="6561666" y="1047750"/>
              <a:ext cx="4015316" cy="200448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Elemento grafico 9">
              <a:extLst>
                <a:ext uri="{FF2B5EF4-FFF2-40B4-BE49-F238E27FC236}">
                  <a16:creationId xmlns:a16="http://schemas.microsoft.com/office/drawing/2014/main" id="{EF7A4900-AFCE-132D-E857-32DDD56AB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19333" y="1121833"/>
              <a:ext cx="4318001" cy="1460501"/>
            </a:xfrm>
            <a:prstGeom prst="rect">
              <a:avLst/>
            </a:prstGeom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EA30B797-A30D-E158-EFA9-21C4FB8B8520}"/>
                </a:ext>
              </a:extLst>
            </p:cNvPr>
            <p:cNvSpPr txBox="1"/>
            <p:nvPr/>
          </p:nvSpPr>
          <p:spPr>
            <a:xfrm>
              <a:off x="7334248" y="2585840"/>
              <a:ext cx="269028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b="1" dirty="0" err="1">
                  <a:ea typeface="Calibri"/>
                  <a:cs typeface="Calibri"/>
                </a:rPr>
                <a:t>Recurrent</a:t>
              </a:r>
              <a:r>
                <a:rPr lang="it-IT" b="1" dirty="0">
                  <a:ea typeface="Calibri"/>
                  <a:cs typeface="Calibri"/>
                </a:rPr>
                <a:t> </a:t>
              </a:r>
              <a:r>
                <a:rPr lang="it-IT" b="1" dirty="0" err="1">
                  <a:ea typeface="Calibri"/>
                  <a:cs typeface="Calibri"/>
                </a:rPr>
                <a:t>Neural</a:t>
              </a:r>
              <a:r>
                <a:rPr lang="it-IT" b="1" dirty="0">
                  <a:ea typeface="Calibri"/>
                  <a:cs typeface="Calibri"/>
                </a:rPr>
                <a:t> Network</a:t>
              </a:r>
            </a:p>
          </p:txBody>
        </p:sp>
      </p:grpSp>
      <p:pic>
        <p:nvPicPr>
          <p:cNvPr id="17" name="Immagine 16" descr="Immagine che contiene testo, diagramma, mappa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4FFB398A-B078-2270-84D2-BDF16B58D4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257"/>
          <a:stretch>
            <a:fillRect/>
          </a:stretch>
        </p:blipFill>
        <p:spPr>
          <a:xfrm>
            <a:off x="1651000" y="3675591"/>
            <a:ext cx="8883228" cy="220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9564A3E-A1D4-F780-9FDB-2B746A4614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>
                <a:latin typeface="Century Gothic"/>
              </a:rPr>
              <a:t>LSTM: </a:t>
            </a:r>
            <a:r>
              <a:rPr lang="it-IT">
                <a:latin typeface="Century Gothic"/>
              </a:rPr>
              <a:t>implementations</a:t>
            </a:r>
            <a:endParaRPr lang="it-IT" u="sng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A3F9F07-5C13-381D-0DE7-9BF0FCF6B56B}"/>
              </a:ext>
            </a:extLst>
          </p:cNvPr>
          <p:cNvSpPr txBox="1"/>
          <p:nvPr/>
        </p:nvSpPr>
        <p:spPr>
          <a:xfrm>
            <a:off x="680618" y="1123733"/>
            <a:ext cx="4730577" cy="880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it-IT" dirty="0">
                <a:ea typeface="Calibri"/>
                <a:cs typeface="Calibri"/>
              </a:rPr>
              <a:t>NN = </a:t>
            </a:r>
            <a:r>
              <a:rPr lang="it-IT" dirty="0" err="1">
                <a:ea typeface="Calibri"/>
                <a:cs typeface="Calibri"/>
              </a:rPr>
              <a:t>Sequence</a:t>
            </a:r>
            <a:r>
              <a:rPr lang="it-IT" dirty="0">
                <a:ea typeface="Calibri"/>
                <a:cs typeface="Calibri"/>
              </a:rPr>
              <a:t> of </a:t>
            </a:r>
            <a:r>
              <a:rPr lang="it-IT" dirty="0" err="1">
                <a:ea typeface="Calibri"/>
                <a:cs typeface="Calibri"/>
              </a:rPr>
              <a:t>layers</a:t>
            </a:r>
            <a:r>
              <a:rPr lang="it-IT" dirty="0">
                <a:ea typeface="Calibri"/>
                <a:cs typeface="Calibri"/>
              </a:rPr>
              <a:t> working </a:t>
            </a:r>
            <a:r>
              <a:rPr lang="it-IT" dirty="0" err="1">
                <a:ea typeface="Calibri"/>
                <a:cs typeface="Calibri"/>
              </a:rPr>
              <a:t>together</a:t>
            </a:r>
            <a:endParaRPr lang="it-IT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it-IT" b="1" dirty="0">
                <a:ea typeface="Calibri"/>
                <a:cs typeface="Calibri"/>
              </a:rPr>
              <a:t>Task = </a:t>
            </a:r>
            <a:r>
              <a:rPr lang="it-IT" dirty="0" err="1">
                <a:ea typeface="Calibri"/>
                <a:cs typeface="Calibri"/>
              </a:rPr>
              <a:t>designing</a:t>
            </a:r>
            <a:r>
              <a:rPr lang="it-IT" dirty="0">
                <a:ea typeface="Calibri"/>
                <a:cs typeface="Calibri"/>
              </a:rPr>
              <a:t> the </a:t>
            </a:r>
            <a:r>
              <a:rPr lang="it-IT" dirty="0" err="1">
                <a:ea typeface="Calibri"/>
                <a:cs typeface="Calibri"/>
              </a:rPr>
              <a:t>achitecture</a:t>
            </a:r>
            <a:endParaRPr lang="it-IT" dirty="0">
              <a:ea typeface="Calibri"/>
              <a:cs typeface="Calibri"/>
            </a:endParaRP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3A18120D-557C-AD8A-788F-32BDFC3219B3}"/>
              </a:ext>
            </a:extLst>
          </p:cNvPr>
          <p:cNvGrpSpPr/>
          <p:nvPr/>
        </p:nvGrpSpPr>
        <p:grpSpPr>
          <a:xfrm>
            <a:off x="4430495" y="1496097"/>
            <a:ext cx="6414681" cy="646331"/>
            <a:chOff x="4430495" y="1496097"/>
            <a:chExt cx="6414681" cy="646331"/>
          </a:xfrm>
        </p:grpSpPr>
        <p:sp>
          <p:nvSpPr>
            <p:cNvPr id="8" name="Freccia a destra 7">
              <a:extLst>
                <a:ext uri="{FF2B5EF4-FFF2-40B4-BE49-F238E27FC236}">
                  <a16:creationId xmlns:a16="http://schemas.microsoft.com/office/drawing/2014/main" id="{EF6E3EEC-AEC3-C8F2-D9D8-7242D8CD4F25}"/>
                </a:ext>
              </a:extLst>
            </p:cNvPr>
            <p:cNvSpPr/>
            <p:nvPr/>
          </p:nvSpPr>
          <p:spPr>
            <a:xfrm>
              <a:off x="4430495" y="1583459"/>
              <a:ext cx="978407" cy="484631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78A67912-EB00-B680-AF34-09C6A1A149F1}"/>
                </a:ext>
              </a:extLst>
            </p:cNvPr>
            <p:cNvSpPr txBox="1"/>
            <p:nvPr/>
          </p:nvSpPr>
          <p:spPr>
            <a:xfrm>
              <a:off x="5507059" y="1496097"/>
              <a:ext cx="5338117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u="sng" dirty="0" err="1">
                  <a:ea typeface="+mn-lt"/>
                  <a:cs typeface="+mn-lt"/>
                </a:rPr>
                <a:t>choosing</a:t>
              </a:r>
              <a:r>
                <a:rPr lang="it-IT" u="sng" dirty="0">
                  <a:ea typeface="+mn-lt"/>
                  <a:cs typeface="+mn-lt"/>
                </a:rPr>
                <a:t> </a:t>
              </a:r>
              <a:r>
                <a:rPr lang="it-IT" u="sng" dirty="0" err="1">
                  <a:ea typeface="+mn-lt"/>
                  <a:cs typeface="+mn-lt"/>
                </a:rPr>
                <a:t>which</a:t>
              </a:r>
              <a:r>
                <a:rPr lang="it-IT" u="sng" dirty="0">
                  <a:ea typeface="+mn-lt"/>
                  <a:cs typeface="+mn-lt"/>
                </a:rPr>
                <a:t> </a:t>
              </a:r>
              <a:r>
                <a:rPr lang="it-IT" u="sng" dirty="0" err="1">
                  <a:ea typeface="+mn-lt"/>
                  <a:cs typeface="+mn-lt"/>
                </a:rPr>
                <a:t>layers</a:t>
              </a:r>
              <a:r>
                <a:rPr lang="it-IT" u="sng" dirty="0">
                  <a:ea typeface="+mn-lt"/>
                  <a:cs typeface="+mn-lt"/>
                </a:rPr>
                <a:t> to use and </a:t>
              </a:r>
              <a:r>
                <a:rPr lang="it-IT" u="sng" dirty="0" err="1">
                  <a:ea typeface="+mn-lt"/>
                  <a:cs typeface="+mn-lt"/>
                </a:rPr>
                <a:t>how</a:t>
              </a:r>
              <a:r>
                <a:rPr lang="it-IT" u="sng" dirty="0">
                  <a:ea typeface="+mn-lt"/>
                  <a:cs typeface="+mn-lt"/>
                </a:rPr>
                <a:t> to combine </a:t>
              </a:r>
              <a:r>
                <a:rPr lang="it-IT" u="sng" dirty="0" err="1">
                  <a:ea typeface="+mn-lt"/>
                  <a:cs typeface="+mn-lt"/>
                </a:rPr>
                <a:t>them</a:t>
              </a:r>
              <a:endParaRPr lang="it-IT" u="sng" dirty="0">
                <a:ea typeface="Calibri"/>
                <a:cs typeface="Calibri"/>
              </a:endParaRPr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7C1E6701-ECE1-4997-BD03-E2C09A3B6DCD}"/>
              </a:ext>
            </a:extLst>
          </p:cNvPr>
          <p:cNvGrpSpPr/>
          <p:nvPr/>
        </p:nvGrpSpPr>
        <p:grpSpPr>
          <a:xfrm>
            <a:off x="245979" y="2257926"/>
            <a:ext cx="6815218" cy="4013200"/>
            <a:chOff x="526716" y="2257926"/>
            <a:chExt cx="8530856" cy="4013200"/>
          </a:xfrm>
        </p:grpSpPr>
        <p:pic>
          <p:nvPicPr>
            <p:cNvPr id="11" name="Immagine 10" descr="Immagine che contiene testo, Fast food, cibo, panino&#10;&#10;Il contenuto generato dall&amp;#39;IA potrebbe non essere corretto.">
              <a:extLst>
                <a:ext uri="{FF2B5EF4-FFF2-40B4-BE49-F238E27FC236}">
                  <a16:creationId xmlns:a16="http://schemas.microsoft.com/office/drawing/2014/main" id="{4B65D656-8365-AAC4-0EC0-668F89532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716" y="2257926"/>
              <a:ext cx="4013200" cy="4013200"/>
            </a:xfrm>
            <a:prstGeom prst="rect">
              <a:avLst/>
            </a:prstGeom>
          </p:spPr>
        </p:pic>
        <p:sp>
          <p:nvSpPr>
            <p:cNvPr id="12" name="Parentesi quadra chiusa 11">
              <a:extLst>
                <a:ext uri="{FF2B5EF4-FFF2-40B4-BE49-F238E27FC236}">
                  <a16:creationId xmlns:a16="http://schemas.microsoft.com/office/drawing/2014/main" id="{453A7EEA-A21C-364E-3781-57D129FFFACC}"/>
                </a:ext>
              </a:extLst>
            </p:cNvPr>
            <p:cNvSpPr/>
            <p:nvPr/>
          </p:nvSpPr>
          <p:spPr>
            <a:xfrm>
              <a:off x="4251158" y="3435683"/>
              <a:ext cx="674730" cy="1823453"/>
            </a:xfrm>
            <a:prstGeom prst="rightBracket">
              <a:avLst/>
            </a:prstGeom>
            <a:noFill/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3" name="Connettore 2 12">
              <a:extLst>
                <a:ext uri="{FF2B5EF4-FFF2-40B4-BE49-F238E27FC236}">
                  <a16:creationId xmlns:a16="http://schemas.microsoft.com/office/drawing/2014/main" id="{D5219A6A-053E-AC6E-D3EF-E92E5EEB51F6}"/>
                </a:ext>
              </a:extLst>
            </p:cNvPr>
            <p:cNvCxnSpPr/>
            <p:nvPr/>
          </p:nvCxnSpPr>
          <p:spPr>
            <a:xfrm>
              <a:off x="4251157" y="2874210"/>
              <a:ext cx="1004243" cy="5351"/>
            </a:xfrm>
            <a:prstGeom prst="straightConnector1">
              <a:avLst/>
            </a:prstGeom>
            <a:ln w="57150">
              <a:solidFill>
                <a:srgbClr val="BD2B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2 14">
              <a:extLst>
                <a:ext uri="{FF2B5EF4-FFF2-40B4-BE49-F238E27FC236}">
                  <a16:creationId xmlns:a16="http://schemas.microsoft.com/office/drawing/2014/main" id="{DF3C0FDA-7D01-34D1-5D82-A8878E2EDBA8}"/>
                </a:ext>
              </a:extLst>
            </p:cNvPr>
            <p:cNvCxnSpPr>
              <a:cxnSpLocks/>
            </p:cNvCxnSpPr>
            <p:nvPr/>
          </p:nvCxnSpPr>
          <p:spPr>
            <a:xfrm>
              <a:off x="4251156" y="5775157"/>
              <a:ext cx="1004243" cy="5351"/>
            </a:xfrm>
            <a:prstGeom prst="straightConnector1">
              <a:avLst/>
            </a:prstGeom>
            <a:ln w="57150">
              <a:solidFill>
                <a:srgbClr val="BD2B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2D878A0E-AE46-8682-8355-A6CDB08B789B}"/>
                </a:ext>
              </a:extLst>
            </p:cNvPr>
            <p:cNvSpPr txBox="1"/>
            <p:nvPr/>
          </p:nvSpPr>
          <p:spPr>
            <a:xfrm>
              <a:off x="5414209" y="5594685"/>
              <a:ext cx="350681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/>
                <a:t>Bottom </a:t>
              </a:r>
              <a:r>
                <a:rPr lang="en-US"/>
                <a:t>bread = </a:t>
              </a:r>
              <a:r>
                <a:rPr lang="en-US" b="1"/>
                <a:t>Input </a:t>
              </a:r>
              <a:r>
                <a:rPr lang="en-US"/>
                <a:t>layer</a:t>
              </a:r>
              <a:endParaRPr lang="en-US">
                <a:ea typeface="Calibri"/>
                <a:cs typeface="Calibri"/>
              </a:endParaRP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51E6AAD7-A071-4EE5-FB74-97CEFA094A61}"/>
                </a:ext>
              </a:extLst>
            </p:cNvPr>
            <p:cNvSpPr txBox="1"/>
            <p:nvPr/>
          </p:nvSpPr>
          <p:spPr>
            <a:xfrm>
              <a:off x="5414211" y="2667000"/>
              <a:ext cx="338968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800" b="1" baseline="0">
                  <a:latin typeface="Calibri"/>
                </a:rPr>
                <a:t>Top </a:t>
              </a:r>
              <a:r>
                <a:rPr lang="en-US" sz="1800" baseline="0">
                  <a:latin typeface="Calibri"/>
                </a:rPr>
                <a:t>bread = </a:t>
              </a:r>
              <a:r>
                <a:rPr lang="en-US" sz="1800" b="1" baseline="0">
                  <a:latin typeface="Calibri"/>
                </a:rPr>
                <a:t>Output </a:t>
              </a:r>
              <a:r>
                <a:rPr lang="en-US" sz="1800" baseline="0">
                  <a:latin typeface="Calibri"/>
                </a:rPr>
                <a:t>layer</a:t>
              </a:r>
              <a:endParaRPr lang="it-IT"/>
            </a:p>
          </p:txBody>
        </p: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A5211A24-293C-B2E9-BB77-9D71F7E76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679" y="4264085"/>
              <a:ext cx="313365" cy="439"/>
            </a:xfrm>
            <a:prstGeom prst="straightConnector1">
              <a:avLst/>
            </a:prstGeom>
            <a:ln w="57150">
              <a:solidFill>
                <a:srgbClr val="BD2B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8B3653AE-1047-6D17-1A2B-B9AE96EC27F7}"/>
                </a:ext>
              </a:extLst>
            </p:cNvPr>
            <p:cNvSpPr txBox="1"/>
            <p:nvPr/>
          </p:nvSpPr>
          <p:spPr>
            <a:xfrm>
              <a:off x="5414209" y="4077366"/>
              <a:ext cx="364336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t-IT" b="1" dirty="0" err="1">
                  <a:ea typeface="+mn-lt"/>
                  <a:cs typeface="+mn-lt"/>
                </a:rPr>
                <a:t>Ingredients</a:t>
              </a:r>
              <a:r>
                <a:rPr lang="it-IT" b="1" dirty="0">
                  <a:ea typeface="+mn-lt"/>
                  <a:cs typeface="+mn-lt"/>
                </a:rPr>
                <a:t> </a:t>
              </a:r>
              <a:r>
                <a:rPr lang="it-IT" dirty="0">
                  <a:ea typeface="+mn-lt"/>
                  <a:cs typeface="+mn-lt"/>
                </a:rPr>
                <a:t>= </a:t>
              </a:r>
              <a:r>
                <a:rPr lang="it-IT" b="1" dirty="0" err="1">
                  <a:ea typeface="+mn-lt"/>
                  <a:cs typeface="+mn-lt"/>
                </a:rPr>
                <a:t>Hidden</a:t>
              </a:r>
              <a:r>
                <a:rPr lang="it-IT" b="1" dirty="0">
                  <a:ea typeface="+mn-lt"/>
                  <a:cs typeface="+mn-lt"/>
                </a:rPr>
                <a:t> </a:t>
              </a:r>
              <a:r>
                <a:rPr lang="it-IT" dirty="0" err="1">
                  <a:ea typeface="+mn-lt"/>
                  <a:cs typeface="+mn-lt"/>
                </a:rPr>
                <a:t>layers</a:t>
              </a:r>
              <a:endParaRPr lang="it-IT" dirty="0" err="1"/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1D791A76-0CD0-16A7-28C5-044EB4210970}"/>
              </a:ext>
            </a:extLst>
          </p:cNvPr>
          <p:cNvGrpSpPr/>
          <p:nvPr/>
        </p:nvGrpSpPr>
        <p:grpSpPr>
          <a:xfrm>
            <a:off x="4063999" y="2259263"/>
            <a:ext cx="7912022" cy="4013881"/>
            <a:chOff x="4063999" y="2259263"/>
            <a:chExt cx="7912022" cy="4013881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1C578BEC-C56D-20FE-A590-D86AEC286CBE}"/>
                </a:ext>
              </a:extLst>
            </p:cNvPr>
            <p:cNvSpPr txBox="1"/>
            <p:nvPr/>
          </p:nvSpPr>
          <p:spPr>
            <a:xfrm>
              <a:off x="4063999" y="2579825"/>
              <a:ext cx="4077368" cy="3693319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ea typeface="Calibri"/>
                  <a:cs typeface="Calibri"/>
                </a:rPr>
                <a:t>Fixed</a:t>
              </a:r>
              <a:endParaRPr lang="en-US" b="1" dirty="0"/>
            </a:p>
            <a:p>
              <a:pPr algn="ctr"/>
              <a:endParaRPr lang="en-US" dirty="0"/>
            </a:p>
            <a:p>
              <a:pPr algn="ctr"/>
              <a:endParaRPr lang="en-US" dirty="0">
                <a:ea typeface="Calibri"/>
                <a:cs typeface="Calibri"/>
              </a:endParaRPr>
            </a:p>
            <a:p>
              <a:pPr algn="ctr"/>
              <a:endParaRPr lang="en-US" dirty="0">
                <a:ea typeface="Calibri"/>
                <a:cs typeface="Calibri"/>
              </a:endParaRP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Just as </a:t>
              </a:r>
              <a:r>
                <a:rPr lang="en-US" b="1" dirty="0"/>
                <a:t>ingredients </a:t>
              </a:r>
              <a:r>
                <a:rPr lang="en-US" dirty="0"/>
                <a:t>determine the </a:t>
              </a:r>
              <a:r>
                <a:rPr lang="en-US" b="1" dirty="0"/>
                <a:t>flavor</a:t>
              </a:r>
              <a:r>
                <a:rPr lang="en-US" dirty="0"/>
                <a:t>,</a:t>
              </a:r>
              <a:br>
                <a:rPr lang="en-US" dirty="0"/>
              </a:br>
              <a:r>
                <a:rPr lang="en-US" dirty="0"/>
                <a:t>hidden </a:t>
              </a:r>
              <a:r>
                <a:rPr lang="en-US" b="1" dirty="0"/>
                <a:t>layers </a:t>
              </a:r>
              <a:r>
                <a:rPr lang="en-US" dirty="0"/>
                <a:t>determine the </a:t>
              </a:r>
              <a:r>
                <a:rPr lang="en-US" b="1" dirty="0"/>
                <a:t>learning </a:t>
              </a:r>
              <a:r>
                <a:rPr lang="en-US" b="1" dirty="0" err="1"/>
                <a:t>behaviour</a:t>
              </a:r>
              <a:r>
                <a:rPr lang="en-US" dirty="0"/>
                <a:t> of the model.</a:t>
              </a:r>
              <a:endParaRPr lang="it-IT">
                <a:ea typeface="Calibri"/>
                <a:cs typeface="Calibri"/>
              </a:endParaRPr>
            </a:p>
            <a:p>
              <a:pPr algn="ctr"/>
              <a:endParaRPr lang="en-US" dirty="0">
                <a:ea typeface="Calibri"/>
                <a:cs typeface="Calibri"/>
              </a:endParaRPr>
            </a:p>
            <a:p>
              <a:pPr algn="ctr"/>
              <a:endParaRPr lang="en-US" dirty="0">
                <a:ea typeface="Calibri"/>
                <a:cs typeface="Calibri"/>
              </a:endParaRPr>
            </a:p>
            <a:p>
              <a:pPr algn="ctr"/>
              <a:endParaRPr lang="en-US" dirty="0">
                <a:ea typeface="Calibri"/>
                <a:cs typeface="Calibri"/>
              </a:endParaRPr>
            </a:p>
            <a:p>
              <a:pPr algn="ctr"/>
              <a:endParaRPr lang="en-US" dirty="0">
                <a:ea typeface="Calibri"/>
                <a:cs typeface="Calibri"/>
              </a:endParaRPr>
            </a:p>
            <a:p>
              <a:pPr algn="ctr"/>
              <a:r>
                <a:rPr lang="en-US" b="1">
                  <a:ea typeface="Calibri"/>
                  <a:cs typeface="Calibri"/>
                </a:rPr>
                <a:t>Fixed</a:t>
              </a:r>
              <a:endParaRPr lang="en-US" b="1" dirty="0">
                <a:ea typeface="Calibri"/>
                <a:cs typeface="Calibri"/>
              </a:endParaRPr>
            </a:p>
          </p:txBody>
        </p:sp>
        <p:pic>
          <p:nvPicPr>
            <p:cNvPr id="23" name="Immagine 22" descr="Immagine che contiene testo, diagramma, line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3D5BDA83-5D61-A3F8-D1AE-157AFE4FD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70191" y="2259263"/>
              <a:ext cx="3805830" cy="3756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517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838BB5D-A694-054E-7388-EE53038DE0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>
                <a:latin typeface="Century Gothic"/>
              </a:rPr>
              <a:t>LSTM: </a:t>
            </a:r>
            <a:r>
              <a:rPr lang="it-IT" dirty="0" err="1">
                <a:latin typeface="Century Gothic"/>
              </a:rPr>
              <a:t>architecture</a:t>
            </a:r>
            <a:r>
              <a:rPr lang="it-IT" dirty="0">
                <a:latin typeface="Century Gothic"/>
              </a:rPr>
              <a:t> design</a:t>
            </a:r>
            <a:endParaRPr lang="it-IT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8A6C8281-E86A-9854-E811-723121207474}"/>
              </a:ext>
            </a:extLst>
          </p:cNvPr>
          <p:cNvGrpSpPr/>
          <p:nvPr/>
        </p:nvGrpSpPr>
        <p:grpSpPr>
          <a:xfrm>
            <a:off x="737592" y="1122778"/>
            <a:ext cx="3218441" cy="2692832"/>
            <a:chOff x="1302947" y="2241197"/>
            <a:chExt cx="3218441" cy="2692832"/>
          </a:xfrm>
        </p:grpSpPr>
        <p:pic>
          <p:nvPicPr>
            <p:cNvPr id="5" name="Immagine 4" descr="Immagine che contiene testo, Fast food, cibo, panino&#10;&#10;Il contenuto generato dall&amp;#39;IA potrebbe non essere corretto.">
              <a:extLst>
                <a:ext uri="{FF2B5EF4-FFF2-40B4-BE49-F238E27FC236}">
                  <a16:creationId xmlns:a16="http://schemas.microsoft.com/office/drawing/2014/main" id="{F7F06039-6CBE-3659-DAFF-81E802305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4159" r="-385" b="20183"/>
            <a:stretch>
              <a:fillRect/>
            </a:stretch>
          </p:blipFill>
          <p:spPr>
            <a:xfrm>
              <a:off x="1302947" y="2700377"/>
              <a:ext cx="3218441" cy="2233652"/>
            </a:xfrm>
            <a:prstGeom prst="rect">
              <a:avLst/>
            </a:prstGeom>
          </p:spPr>
        </p:pic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D9736BFD-2140-4930-F0CA-EECAFFF3428A}"/>
                </a:ext>
              </a:extLst>
            </p:cNvPr>
            <p:cNvSpPr txBox="1"/>
            <p:nvPr/>
          </p:nvSpPr>
          <p:spPr>
            <a:xfrm>
              <a:off x="2199968" y="2241197"/>
              <a:ext cx="1428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b="1" dirty="0" err="1">
                  <a:ea typeface="Calibri"/>
                  <a:cs typeface="Calibri"/>
                </a:rPr>
                <a:t>Ingredients</a:t>
              </a:r>
              <a:endParaRPr lang="it-IT" dirty="0" err="1"/>
            </a:p>
          </p:txBody>
        </p:sp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9EB54811-B742-AFD9-CE5A-99C893D8673A}"/>
              </a:ext>
            </a:extLst>
          </p:cNvPr>
          <p:cNvGrpSpPr/>
          <p:nvPr/>
        </p:nvGrpSpPr>
        <p:grpSpPr>
          <a:xfrm>
            <a:off x="884902" y="1130709"/>
            <a:ext cx="6491749" cy="2691580"/>
            <a:chOff x="884902" y="1130709"/>
            <a:chExt cx="6491749" cy="2691580"/>
          </a:xfrm>
        </p:grpSpPr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AA599B4B-2582-A298-1C10-109C614298CC}"/>
                </a:ext>
              </a:extLst>
            </p:cNvPr>
            <p:cNvGrpSpPr/>
            <p:nvPr/>
          </p:nvGrpSpPr>
          <p:grpSpPr>
            <a:xfrm>
              <a:off x="884902" y="1130709"/>
              <a:ext cx="3072581" cy="2691580"/>
              <a:chOff x="5628967" y="1806677"/>
              <a:chExt cx="3072581" cy="2691580"/>
            </a:xfrm>
          </p:grpSpPr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C6CBA59B-1350-CA8C-56DF-68AAD97B378D}"/>
                  </a:ext>
                </a:extLst>
              </p:cNvPr>
              <p:cNvSpPr/>
              <p:nvPr/>
            </p:nvSpPr>
            <p:spPr>
              <a:xfrm>
                <a:off x="5628967" y="1806677"/>
                <a:ext cx="3072581" cy="26915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grpSp>
            <p:nvGrpSpPr>
              <p:cNvPr id="18" name="Gruppo 17">
                <a:extLst>
                  <a:ext uri="{FF2B5EF4-FFF2-40B4-BE49-F238E27FC236}">
                    <a16:creationId xmlns:a16="http://schemas.microsoft.com/office/drawing/2014/main" id="{DD2A1428-7D95-99D8-A77A-EF39CFDBA933}"/>
                  </a:ext>
                </a:extLst>
              </p:cNvPr>
              <p:cNvGrpSpPr/>
              <p:nvPr/>
            </p:nvGrpSpPr>
            <p:grpSpPr>
              <a:xfrm>
                <a:off x="6366385" y="2015612"/>
                <a:ext cx="1462549" cy="2243536"/>
                <a:chOff x="6980901" y="1425676"/>
                <a:chExt cx="1462549" cy="2243536"/>
              </a:xfrm>
            </p:grpSpPr>
            <p:grpSp>
              <p:nvGrpSpPr>
                <p:cNvPr id="13" name="Gruppo 12">
                  <a:extLst>
                    <a:ext uri="{FF2B5EF4-FFF2-40B4-BE49-F238E27FC236}">
                      <a16:creationId xmlns:a16="http://schemas.microsoft.com/office/drawing/2014/main" id="{43C0F09B-C541-8E19-AA6D-9C9624A821B2}"/>
                    </a:ext>
                  </a:extLst>
                </p:cNvPr>
                <p:cNvGrpSpPr>
                  <a:grpSpLocks noUngrp="1" noChangeAspect="1"/>
                </p:cNvGrpSpPr>
                <p:nvPr/>
              </p:nvGrpSpPr>
              <p:grpSpPr>
                <a:xfrm>
                  <a:off x="6980901" y="2007679"/>
                  <a:ext cx="1462549" cy="1661533"/>
                  <a:chOff x="5960804" y="4084745"/>
                  <a:chExt cx="1256073" cy="1309541"/>
                </a:xfrm>
              </p:grpSpPr>
              <p:sp>
                <p:nvSpPr>
                  <p:cNvPr id="8" name="CasellaDiTesto 7">
                    <a:extLst>
                      <a:ext uri="{FF2B5EF4-FFF2-40B4-BE49-F238E27FC236}">
                        <a16:creationId xmlns:a16="http://schemas.microsoft.com/office/drawing/2014/main" id="{372E7E42-A4E9-4614-B2A7-CBFBBCAD027C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5960805" y="4084745"/>
                    <a:ext cx="1256071" cy="369332"/>
                  </a:xfrm>
                  <a:prstGeom prst="rect">
                    <a:avLst/>
                  </a:prstGeom>
                  <a:solidFill>
                    <a:srgbClr val="6397D0"/>
                  </a:solidFill>
                  <a:ln>
                    <a:solidFill>
                      <a:srgbClr val="6397D0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LSTM 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  <p:sp>
                <p:nvSpPr>
                  <p:cNvPr id="9" name="CasellaDiTesto 8">
                    <a:extLst>
                      <a:ext uri="{FF2B5EF4-FFF2-40B4-BE49-F238E27FC236}">
                        <a16:creationId xmlns:a16="http://schemas.microsoft.com/office/drawing/2014/main" id="{6A417E65-BC3E-D338-B787-A913057B3C6C}"/>
                      </a:ext>
                    </a:extLst>
                  </p:cNvPr>
                  <p:cNvSpPr txBox="1"/>
                  <p:nvPr/>
                </p:nvSpPr>
                <p:spPr>
                  <a:xfrm>
                    <a:off x="5960804" y="4551777"/>
                    <a:ext cx="1256071" cy="369332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Dense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  <p:sp>
                <p:nvSpPr>
                  <p:cNvPr id="10" name="CasellaDiTesto 9">
                    <a:extLst>
                      <a:ext uri="{FF2B5EF4-FFF2-40B4-BE49-F238E27FC236}">
                        <a16:creationId xmlns:a16="http://schemas.microsoft.com/office/drawing/2014/main" id="{97AF9E41-D8B0-7102-2168-1EF209BBFD6A}"/>
                      </a:ext>
                    </a:extLst>
                  </p:cNvPr>
                  <p:cNvSpPr txBox="1"/>
                  <p:nvPr/>
                </p:nvSpPr>
                <p:spPr>
                  <a:xfrm>
                    <a:off x="5960806" y="5024954"/>
                    <a:ext cx="1256071" cy="369332"/>
                  </a:xfrm>
                  <a:prstGeom prst="rect">
                    <a:avLst/>
                  </a:prstGeom>
                  <a:ln>
                    <a:solidFill>
                      <a:schemeClr val="accent6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Dropout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</p:grpSp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85C4E339-1612-BF1E-72C0-650169F04416}"/>
                    </a:ext>
                  </a:extLst>
                </p:cNvPr>
                <p:cNvSpPr txBox="1"/>
                <p:nvPr/>
              </p:nvSpPr>
              <p:spPr>
                <a:xfrm>
                  <a:off x="7300452" y="1425676"/>
                  <a:ext cx="811162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it-IT" b="1" dirty="0" err="1">
                      <a:latin typeface="Calibri"/>
                    </a:rPr>
                    <a:t>Layers</a:t>
                  </a:r>
                  <a:endParaRPr lang="it-IT" b="1" dirty="0" err="1">
                    <a:ea typeface="Calibri"/>
                    <a:cs typeface="Calibri"/>
                  </a:endParaRPr>
                </a:p>
              </p:txBody>
            </p:sp>
          </p:grpSp>
        </p:grpSp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9E08EE2B-00A6-FC1F-1F34-88C5E6D094FE}"/>
                </a:ext>
              </a:extLst>
            </p:cNvPr>
            <p:cNvGrpSpPr/>
            <p:nvPr/>
          </p:nvGrpSpPr>
          <p:grpSpPr>
            <a:xfrm>
              <a:off x="3147657" y="1991032"/>
              <a:ext cx="4228994" cy="1555347"/>
              <a:chOff x="3147657" y="1991032"/>
              <a:chExt cx="4228994" cy="1555347"/>
            </a:xfrm>
          </p:grpSpPr>
          <p:grpSp>
            <p:nvGrpSpPr>
              <p:cNvPr id="25" name="Gruppo 24">
                <a:extLst>
                  <a:ext uri="{FF2B5EF4-FFF2-40B4-BE49-F238E27FC236}">
                    <a16:creationId xmlns:a16="http://schemas.microsoft.com/office/drawing/2014/main" id="{3A20857B-1084-F7C2-C748-13416B56E478}"/>
                  </a:ext>
                </a:extLst>
              </p:cNvPr>
              <p:cNvGrpSpPr/>
              <p:nvPr/>
            </p:nvGrpSpPr>
            <p:grpSpPr>
              <a:xfrm>
                <a:off x="3147657" y="1991032"/>
                <a:ext cx="4228994" cy="369332"/>
                <a:chOff x="3147657" y="1991032"/>
                <a:chExt cx="4228994" cy="369332"/>
              </a:xfrm>
            </p:grpSpPr>
            <p:sp>
              <p:nvSpPr>
                <p:cNvPr id="20" name="CasellaDiTesto 19">
                  <a:extLst>
                    <a:ext uri="{FF2B5EF4-FFF2-40B4-BE49-F238E27FC236}">
                      <a16:creationId xmlns:a16="http://schemas.microsoft.com/office/drawing/2014/main" id="{56B09F75-C0C2-C146-ABE1-94286FC5B8E2}"/>
                    </a:ext>
                  </a:extLst>
                </p:cNvPr>
                <p:cNvSpPr txBox="1"/>
                <p:nvPr/>
              </p:nvSpPr>
              <p:spPr>
                <a:xfrm>
                  <a:off x="3810000" y="1991032"/>
                  <a:ext cx="3566651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it-IT" dirty="0" err="1">
                      <a:ea typeface="+mn-lt"/>
                      <a:cs typeface="+mn-lt"/>
                    </a:rPr>
                    <a:t>Captures</a:t>
                  </a:r>
                  <a:r>
                    <a:rPr lang="it-IT" dirty="0">
                      <a:ea typeface="+mn-lt"/>
                      <a:cs typeface="+mn-lt"/>
                    </a:rPr>
                    <a:t> </a:t>
                  </a:r>
                  <a:r>
                    <a:rPr lang="it-IT" dirty="0" err="1">
                      <a:ea typeface="+mn-lt"/>
                      <a:cs typeface="+mn-lt"/>
                    </a:rPr>
                    <a:t>temporal</a:t>
                  </a:r>
                  <a:r>
                    <a:rPr lang="it-IT" dirty="0">
                      <a:ea typeface="+mn-lt"/>
                      <a:cs typeface="+mn-lt"/>
                    </a:rPr>
                    <a:t> </a:t>
                  </a:r>
                  <a:r>
                    <a:rPr lang="it-IT" dirty="0" err="1">
                      <a:ea typeface="+mn-lt"/>
                      <a:cs typeface="+mn-lt"/>
                    </a:rPr>
                    <a:t>dependencies</a:t>
                  </a:r>
                  <a:endParaRPr lang="it-IT" dirty="0" err="1"/>
                </a:p>
              </p:txBody>
            </p:sp>
            <p:cxnSp>
              <p:nvCxnSpPr>
                <p:cNvPr id="22" name="Connettore 2 21">
                  <a:extLst>
                    <a:ext uri="{FF2B5EF4-FFF2-40B4-BE49-F238E27FC236}">
                      <a16:creationId xmlns:a16="http://schemas.microsoft.com/office/drawing/2014/main" id="{E53AC18B-130C-15F0-58CE-32F77696A72C}"/>
                    </a:ext>
                  </a:extLst>
                </p:cNvPr>
                <p:cNvCxnSpPr/>
                <p:nvPr/>
              </p:nvCxnSpPr>
              <p:spPr>
                <a:xfrm>
                  <a:off x="3147657" y="2161371"/>
                  <a:ext cx="802280" cy="5351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Gruppo 36">
                <a:extLst>
                  <a:ext uri="{FF2B5EF4-FFF2-40B4-BE49-F238E27FC236}">
                    <a16:creationId xmlns:a16="http://schemas.microsoft.com/office/drawing/2014/main" id="{4EEF2AA5-F9EE-6073-E6F8-06F510BF6419}"/>
                  </a:ext>
                </a:extLst>
              </p:cNvPr>
              <p:cNvGrpSpPr/>
              <p:nvPr/>
            </p:nvGrpSpPr>
            <p:grpSpPr>
              <a:xfrm>
                <a:off x="3159947" y="3177047"/>
                <a:ext cx="2913929" cy="369332"/>
                <a:chOff x="3159947" y="3177047"/>
                <a:chExt cx="2913929" cy="369332"/>
              </a:xfrm>
            </p:grpSpPr>
            <p:sp>
              <p:nvSpPr>
                <p:cNvPr id="27" name="CasellaDiTesto 26">
                  <a:extLst>
                    <a:ext uri="{FF2B5EF4-FFF2-40B4-BE49-F238E27FC236}">
                      <a16:creationId xmlns:a16="http://schemas.microsoft.com/office/drawing/2014/main" id="{5DE0C0C3-B163-B03E-2AF9-1A3829EEF50E}"/>
                    </a:ext>
                  </a:extLst>
                </p:cNvPr>
                <p:cNvSpPr txBox="1"/>
                <p:nvPr/>
              </p:nvSpPr>
              <p:spPr>
                <a:xfrm>
                  <a:off x="3957483" y="3177047"/>
                  <a:ext cx="2116393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it-IT" dirty="0" err="1">
                      <a:ea typeface="Calibri"/>
                      <a:cs typeface="Calibri"/>
                    </a:rPr>
                    <a:t>Prevents</a:t>
                  </a:r>
                  <a:r>
                    <a:rPr lang="it-IT" dirty="0">
                      <a:ea typeface="Calibri"/>
                      <a:cs typeface="Calibri"/>
                    </a:rPr>
                    <a:t> </a:t>
                  </a:r>
                  <a:r>
                    <a:rPr lang="it-IT" dirty="0" err="1">
                      <a:ea typeface="Calibri"/>
                      <a:cs typeface="Calibri"/>
                    </a:rPr>
                    <a:t>overfitting</a:t>
                  </a:r>
                </a:p>
              </p:txBody>
            </p:sp>
            <p:cxnSp>
              <p:nvCxnSpPr>
                <p:cNvPr id="32" name="Connettore 2 31">
                  <a:extLst>
                    <a:ext uri="{FF2B5EF4-FFF2-40B4-BE49-F238E27FC236}">
                      <a16:creationId xmlns:a16="http://schemas.microsoft.com/office/drawing/2014/main" id="{46A5076E-6CD4-8870-93FC-0652652F0E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59947" y="3365822"/>
                  <a:ext cx="802280" cy="5351"/>
                </a:xfrm>
                <a:prstGeom prst="straightConnector1">
                  <a:avLst/>
                </a:prstGeom>
                <a:ln w="5715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uppo 35">
                <a:extLst>
                  <a:ext uri="{FF2B5EF4-FFF2-40B4-BE49-F238E27FC236}">
                    <a16:creationId xmlns:a16="http://schemas.microsoft.com/office/drawing/2014/main" id="{49171339-FC3F-C1E1-7019-D600E61AD70A}"/>
                  </a:ext>
                </a:extLst>
              </p:cNvPr>
              <p:cNvGrpSpPr/>
              <p:nvPr/>
            </p:nvGrpSpPr>
            <p:grpSpPr>
              <a:xfrm>
                <a:off x="3159947" y="2568678"/>
                <a:ext cx="3341634" cy="369332"/>
                <a:chOff x="3159947" y="2568678"/>
                <a:chExt cx="3341634" cy="369332"/>
              </a:xfrm>
            </p:grpSpPr>
            <p:cxnSp>
              <p:nvCxnSpPr>
                <p:cNvPr id="24" name="Connettore 2 23">
                  <a:extLst>
                    <a:ext uri="{FF2B5EF4-FFF2-40B4-BE49-F238E27FC236}">
                      <a16:creationId xmlns:a16="http://schemas.microsoft.com/office/drawing/2014/main" id="{371710B3-57F4-B985-FE43-A886C6B8B7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59947" y="2751306"/>
                  <a:ext cx="802280" cy="5351"/>
                </a:xfrm>
                <a:prstGeom prst="straightConnector1">
                  <a:avLst/>
                </a:prstGeom>
                <a:ln w="57150">
                  <a:solidFill>
                    <a:srgbClr val="FFC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CasellaDiTesto 34">
                  <a:extLst>
                    <a:ext uri="{FF2B5EF4-FFF2-40B4-BE49-F238E27FC236}">
                      <a16:creationId xmlns:a16="http://schemas.microsoft.com/office/drawing/2014/main" id="{88002F90-F1C0-AB97-4960-6FCDE54D1ADC}"/>
                    </a:ext>
                  </a:extLst>
                </p:cNvPr>
                <p:cNvSpPr txBox="1"/>
                <p:nvPr/>
              </p:nvSpPr>
              <p:spPr>
                <a:xfrm>
                  <a:off x="3957484" y="2568678"/>
                  <a:ext cx="2544097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/>
                    <a:t>Learns complex relations</a:t>
                  </a:r>
                </a:p>
              </p:txBody>
            </p:sp>
          </p:grpSp>
        </p:grpSp>
      </p:grp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D853089F-3364-572B-F1F5-41E5DD547E23}"/>
              </a:ext>
            </a:extLst>
          </p:cNvPr>
          <p:cNvSpPr txBox="1"/>
          <p:nvPr/>
        </p:nvSpPr>
        <p:spPr>
          <a:xfrm>
            <a:off x="8738418" y="1122778"/>
            <a:ext cx="238678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>
                <a:ea typeface="Calibri"/>
                <a:cs typeface="Calibri"/>
              </a:rPr>
              <a:t>Input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8E33B10-2A05-C688-FDC0-975F778B3632}"/>
              </a:ext>
            </a:extLst>
          </p:cNvPr>
          <p:cNvSpPr txBox="1"/>
          <p:nvPr/>
        </p:nvSpPr>
        <p:spPr>
          <a:xfrm>
            <a:off x="8738417" y="5006518"/>
            <a:ext cx="238678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>
                <a:ea typeface="Calibri"/>
                <a:cs typeface="Calibri"/>
              </a:rPr>
              <a:t>Output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C96EE749-B484-5981-FA9D-B9F4EEAF2575}"/>
              </a:ext>
            </a:extLst>
          </p:cNvPr>
          <p:cNvSpPr txBox="1">
            <a:spLocks noChangeAspect="1"/>
          </p:cNvSpPr>
          <p:nvPr/>
        </p:nvSpPr>
        <p:spPr>
          <a:xfrm>
            <a:off x="9198076" y="1853296"/>
            <a:ext cx="1462547" cy="369332"/>
          </a:xfrm>
          <a:prstGeom prst="rect">
            <a:avLst/>
          </a:prstGeom>
          <a:solidFill>
            <a:srgbClr val="6397D0"/>
          </a:solidFill>
          <a:ln>
            <a:solidFill>
              <a:srgbClr val="6397D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b="1">
                <a:ea typeface="Calibri"/>
                <a:cs typeface="Calibri"/>
              </a:rPr>
              <a:t>LSTM </a:t>
            </a:r>
            <a:endParaRPr lang="it-IT" b="1" dirty="0">
              <a:ea typeface="Calibri"/>
              <a:cs typeface="Calibri"/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5D47E158-564F-84BC-5C57-84C4DEA630EA}"/>
              </a:ext>
            </a:extLst>
          </p:cNvPr>
          <p:cNvSpPr txBox="1">
            <a:spLocks noChangeAspect="1"/>
          </p:cNvSpPr>
          <p:nvPr/>
        </p:nvSpPr>
        <p:spPr>
          <a:xfrm>
            <a:off x="9198076" y="2578426"/>
            <a:ext cx="1462547" cy="369332"/>
          </a:xfrm>
          <a:prstGeom prst="rect">
            <a:avLst/>
          </a:prstGeom>
          <a:solidFill>
            <a:srgbClr val="6397D0"/>
          </a:solidFill>
          <a:ln>
            <a:solidFill>
              <a:srgbClr val="6397D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b="1">
                <a:ea typeface="Calibri"/>
                <a:cs typeface="Calibri"/>
              </a:rPr>
              <a:t>LSTM </a:t>
            </a:r>
            <a:endParaRPr lang="it-IT" b="1" dirty="0">
              <a:ea typeface="Calibri"/>
              <a:cs typeface="Calibri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0FAADD58-FB63-D1E4-32C5-694EF99BCE4D}"/>
              </a:ext>
            </a:extLst>
          </p:cNvPr>
          <p:cNvSpPr txBox="1"/>
          <p:nvPr/>
        </p:nvSpPr>
        <p:spPr>
          <a:xfrm>
            <a:off x="9198075" y="3318001"/>
            <a:ext cx="1462547" cy="46860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b="1">
                <a:ea typeface="Calibri"/>
                <a:cs typeface="Calibri"/>
              </a:rPr>
              <a:t>Dense</a:t>
            </a:r>
            <a:endParaRPr lang="it-IT" b="1" dirty="0">
              <a:ea typeface="Calibri"/>
              <a:cs typeface="Calibri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44AB7782-3645-79F8-470D-E4E78A305161}"/>
              </a:ext>
            </a:extLst>
          </p:cNvPr>
          <p:cNvSpPr txBox="1"/>
          <p:nvPr/>
        </p:nvSpPr>
        <p:spPr>
          <a:xfrm>
            <a:off x="9198077" y="4151878"/>
            <a:ext cx="1462547" cy="46860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b="1">
                <a:ea typeface="Calibri"/>
                <a:cs typeface="Calibri"/>
              </a:rPr>
              <a:t>Dropout</a:t>
            </a:r>
            <a:endParaRPr lang="it-IT" b="1" dirty="0">
              <a:ea typeface="Calibri"/>
              <a:cs typeface="Calibri"/>
            </a:endParaRP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88968B14-E4CC-8964-7598-6A8A0228B616}"/>
              </a:ext>
            </a:extLst>
          </p:cNvPr>
          <p:cNvCxnSpPr/>
          <p:nvPr/>
        </p:nvCxnSpPr>
        <p:spPr>
          <a:xfrm>
            <a:off x="9930580" y="1487131"/>
            <a:ext cx="4917" cy="270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551AF3BD-9210-5EEF-1ECD-51F5B522F36A}"/>
              </a:ext>
            </a:extLst>
          </p:cNvPr>
          <p:cNvCxnSpPr>
            <a:cxnSpLocks/>
          </p:cNvCxnSpPr>
          <p:nvPr/>
        </p:nvCxnSpPr>
        <p:spPr>
          <a:xfrm>
            <a:off x="9930579" y="2249130"/>
            <a:ext cx="4917" cy="270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536D0F5F-0A34-90A9-9C96-AF10312B56F8}"/>
              </a:ext>
            </a:extLst>
          </p:cNvPr>
          <p:cNvCxnSpPr>
            <a:cxnSpLocks/>
          </p:cNvCxnSpPr>
          <p:nvPr/>
        </p:nvCxnSpPr>
        <p:spPr>
          <a:xfrm>
            <a:off x="9930578" y="2974258"/>
            <a:ext cx="4917" cy="270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A4EA2410-618B-D211-2892-00860ECE2D0C}"/>
              </a:ext>
            </a:extLst>
          </p:cNvPr>
          <p:cNvCxnSpPr>
            <a:cxnSpLocks/>
          </p:cNvCxnSpPr>
          <p:nvPr/>
        </p:nvCxnSpPr>
        <p:spPr>
          <a:xfrm>
            <a:off x="9930577" y="3809999"/>
            <a:ext cx="4917" cy="270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C60C40E0-1245-A570-C32C-4DCFBF55329E}"/>
              </a:ext>
            </a:extLst>
          </p:cNvPr>
          <p:cNvCxnSpPr>
            <a:cxnSpLocks/>
          </p:cNvCxnSpPr>
          <p:nvPr/>
        </p:nvCxnSpPr>
        <p:spPr>
          <a:xfrm>
            <a:off x="9930576" y="4645740"/>
            <a:ext cx="4917" cy="270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BF71EB96-FB7A-6342-0E5C-F67F1EDAB038}"/>
              </a:ext>
            </a:extLst>
          </p:cNvPr>
          <p:cNvGrpSpPr/>
          <p:nvPr/>
        </p:nvGrpSpPr>
        <p:grpSpPr>
          <a:xfrm>
            <a:off x="1362164" y="4078035"/>
            <a:ext cx="5784890" cy="2318398"/>
            <a:chOff x="2075003" y="2222196"/>
            <a:chExt cx="5784890" cy="2318398"/>
          </a:xfrm>
        </p:grpSpPr>
        <p:grpSp>
          <p:nvGrpSpPr>
            <p:cNvPr id="64" name="Gruppo 63">
              <a:extLst>
                <a:ext uri="{FF2B5EF4-FFF2-40B4-BE49-F238E27FC236}">
                  <a16:creationId xmlns:a16="http://schemas.microsoft.com/office/drawing/2014/main" id="{19898A16-B268-3001-150A-A2CB2A8E5685}"/>
                </a:ext>
              </a:extLst>
            </p:cNvPr>
            <p:cNvGrpSpPr/>
            <p:nvPr/>
          </p:nvGrpSpPr>
          <p:grpSpPr>
            <a:xfrm>
              <a:off x="2075003" y="2809149"/>
              <a:ext cx="1254081" cy="1154797"/>
              <a:chOff x="2075003" y="2809149"/>
              <a:chExt cx="1254081" cy="1154797"/>
            </a:xfrm>
          </p:grpSpPr>
          <p:grpSp>
            <p:nvGrpSpPr>
              <p:cNvPr id="94" name="Gruppo 93">
                <a:extLst>
                  <a:ext uri="{FF2B5EF4-FFF2-40B4-BE49-F238E27FC236}">
                    <a16:creationId xmlns:a16="http://schemas.microsoft.com/office/drawing/2014/main" id="{F62CE89A-BA5A-4E99-6515-3AF5EDE919CD}"/>
                  </a:ext>
                </a:extLst>
              </p:cNvPr>
              <p:cNvGrpSpPr/>
              <p:nvPr/>
            </p:nvGrpSpPr>
            <p:grpSpPr>
              <a:xfrm>
                <a:off x="2075003" y="2809149"/>
                <a:ext cx="1254081" cy="782552"/>
                <a:chOff x="2075003" y="2809144"/>
                <a:chExt cx="2386782" cy="1283410"/>
              </a:xfrm>
            </p:grpSpPr>
            <p:sp>
              <p:nvSpPr>
                <p:cNvPr id="96" name="CasellaDiTesto 57">
                  <a:extLst>
                    <a:ext uri="{FF2B5EF4-FFF2-40B4-BE49-F238E27FC236}">
                      <a16:creationId xmlns:a16="http://schemas.microsoft.com/office/drawing/2014/main" id="{0D6CD796-8C95-3B95-6214-9D88F36A5DFC}"/>
                    </a:ext>
                  </a:extLst>
                </p:cNvPr>
                <p:cNvSpPr txBox="1"/>
                <p:nvPr/>
              </p:nvSpPr>
              <p:spPr>
                <a:xfrm>
                  <a:off x="2075004" y="2809144"/>
                  <a:ext cx="2386781" cy="3693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Input </a:t>
                  </a:r>
                </a:p>
              </p:txBody>
            </p:sp>
            <p:sp>
              <p:nvSpPr>
                <p:cNvPr id="97" name="CasellaDiTesto 59">
                  <a:extLst>
                    <a:ext uri="{FF2B5EF4-FFF2-40B4-BE49-F238E27FC236}">
                      <a16:creationId xmlns:a16="http://schemas.microsoft.com/office/drawing/2014/main" id="{73FA4AC6-33A9-7C1B-C8DE-28FC28D170BB}"/>
                    </a:ext>
                  </a:extLst>
                </p:cNvPr>
                <p:cNvSpPr txBox="1"/>
                <p:nvPr/>
              </p:nvSpPr>
              <p:spPr>
                <a:xfrm>
                  <a:off x="2075003" y="3723223"/>
                  <a:ext cx="2386780" cy="369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Output</a:t>
                  </a:r>
                </a:p>
              </p:txBody>
            </p:sp>
            <p:sp>
              <p:nvSpPr>
                <p:cNvPr id="98" name="CasellaDiTesto 61">
                  <a:extLst>
                    <a:ext uri="{FF2B5EF4-FFF2-40B4-BE49-F238E27FC236}">
                      <a16:creationId xmlns:a16="http://schemas.microsoft.com/office/drawing/2014/main" id="{ABA30D0E-0760-2A68-32AE-8CEF2CFC9463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2536655" y="3265288"/>
                  <a:ext cx="1462547" cy="369332"/>
                </a:xfrm>
                <a:prstGeom prst="rect">
                  <a:avLst/>
                </a:prstGeom>
                <a:solidFill>
                  <a:srgbClr val="6397D0"/>
                </a:solidFill>
                <a:ln>
                  <a:solidFill>
                    <a:srgbClr val="6397D0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 b="1">
                      <a:ea typeface="Calibri"/>
                      <a:cs typeface="Calibri"/>
                    </a:rPr>
                    <a:t>LSTM </a:t>
                  </a:r>
                  <a:endParaRPr lang="it-IT" b="1" dirty="0">
                    <a:ea typeface="Calibri"/>
                    <a:cs typeface="Calibri"/>
                  </a:endParaRPr>
                </a:p>
              </p:txBody>
            </p:sp>
          </p:grpSp>
          <p:sp>
            <p:nvSpPr>
              <p:cNvPr id="95" name="CasellaDiTesto 40">
                <a:extLst>
                  <a:ext uri="{FF2B5EF4-FFF2-40B4-BE49-F238E27FC236}">
                    <a16:creationId xmlns:a16="http://schemas.microsoft.com/office/drawing/2014/main" id="{E5A2B5FE-A874-25B2-CEAF-9BA15F076DF0}"/>
                  </a:ext>
                </a:extLst>
              </p:cNvPr>
              <p:cNvSpPr txBox="1"/>
              <p:nvPr/>
            </p:nvSpPr>
            <p:spPr>
              <a:xfrm>
                <a:off x="2185887" y="3594614"/>
                <a:ext cx="1013254" cy="369332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it-IT" b="1">
                    <a:ea typeface="Calibri"/>
                    <a:cs typeface="Calibri"/>
                  </a:rPr>
                  <a:t>Baseline</a:t>
                </a:r>
                <a:endParaRPr lang="it-IT" b="1"/>
              </a:p>
            </p:txBody>
          </p:sp>
        </p:grpSp>
        <p:grpSp>
          <p:nvGrpSpPr>
            <p:cNvPr id="65" name="Gruppo 64">
              <a:extLst>
                <a:ext uri="{FF2B5EF4-FFF2-40B4-BE49-F238E27FC236}">
                  <a16:creationId xmlns:a16="http://schemas.microsoft.com/office/drawing/2014/main" id="{4CCF4802-F36C-98A5-133F-BFA8F087CB55}"/>
                </a:ext>
              </a:extLst>
            </p:cNvPr>
            <p:cNvGrpSpPr/>
            <p:nvPr/>
          </p:nvGrpSpPr>
          <p:grpSpPr>
            <a:xfrm>
              <a:off x="3318589" y="2654683"/>
              <a:ext cx="1610497" cy="1443128"/>
              <a:chOff x="3318589" y="2654683"/>
              <a:chExt cx="1610497" cy="1443128"/>
            </a:xfrm>
          </p:grpSpPr>
          <p:grpSp>
            <p:nvGrpSpPr>
              <p:cNvPr id="87" name="Gruppo 86">
                <a:extLst>
                  <a:ext uri="{FF2B5EF4-FFF2-40B4-BE49-F238E27FC236}">
                    <a16:creationId xmlns:a16="http://schemas.microsoft.com/office/drawing/2014/main" id="{F797A19C-2A68-9D84-2B4A-706538746B77}"/>
                  </a:ext>
                </a:extLst>
              </p:cNvPr>
              <p:cNvGrpSpPr/>
              <p:nvPr/>
            </p:nvGrpSpPr>
            <p:grpSpPr>
              <a:xfrm>
                <a:off x="3506327" y="2654683"/>
                <a:ext cx="1254081" cy="1070872"/>
                <a:chOff x="3506327" y="2654683"/>
                <a:chExt cx="1254081" cy="1070872"/>
              </a:xfrm>
            </p:grpSpPr>
            <p:sp>
              <p:nvSpPr>
                <p:cNvPr id="89" name="CasellaDiTesto 57">
                  <a:extLst>
                    <a:ext uri="{FF2B5EF4-FFF2-40B4-BE49-F238E27FC236}">
                      <a16:creationId xmlns:a16="http://schemas.microsoft.com/office/drawing/2014/main" id="{706CC789-199A-C2F6-A500-7AF18068F932}"/>
                    </a:ext>
                  </a:extLst>
                </p:cNvPr>
                <p:cNvSpPr txBox="1"/>
                <p:nvPr/>
              </p:nvSpPr>
              <p:spPr>
                <a:xfrm>
                  <a:off x="3506328" y="2654683"/>
                  <a:ext cx="1254080" cy="22519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Input </a:t>
                  </a:r>
                </a:p>
              </p:txBody>
            </p:sp>
            <p:sp>
              <p:nvSpPr>
                <p:cNvPr id="90" name="CasellaDiTesto 59">
                  <a:extLst>
                    <a:ext uri="{FF2B5EF4-FFF2-40B4-BE49-F238E27FC236}">
                      <a16:creationId xmlns:a16="http://schemas.microsoft.com/office/drawing/2014/main" id="{882D03E7-3168-CA71-8082-86FF0A291827}"/>
                    </a:ext>
                  </a:extLst>
                </p:cNvPr>
                <p:cNvSpPr txBox="1"/>
                <p:nvPr/>
              </p:nvSpPr>
              <p:spPr>
                <a:xfrm>
                  <a:off x="3506327" y="3500358"/>
                  <a:ext cx="1254080" cy="22519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Output</a:t>
                  </a:r>
                </a:p>
              </p:txBody>
            </p:sp>
            <p:grpSp>
              <p:nvGrpSpPr>
                <p:cNvPr id="91" name="Gruppo 90">
                  <a:extLst>
                    <a:ext uri="{FF2B5EF4-FFF2-40B4-BE49-F238E27FC236}">
                      <a16:creationId xmlns:a16="http://schemas.microsoft.com/office/drawing/2014/main" id="{E3598900-A772-5C37-73D0-65BCA03CEA5B}"/>
                    </a:ext>
                  </a:extLst>
                </p:cNvPr>
                <p:cNvGrpSpPr/>
                <p:nvPr/>
              </p:nvGrpSpPr>
              <p:grpSpPr>
                <a:xfrm>
                  <a:off x="3738595" y="2932813"/>
                  <a:ext cx="776699" cy="521760"/>
                  <a:chOff x="3738595" y="2932813"/>
                  <a:chExt cx="776699" cy="521760"/>
                </a:xfrm>
              </p:grpSpPr>
              <p:sp>
                <p:nvSpPr>
                  <p:cNvPr id="92" name="CasellaDiTesto 61">
                    <a:extLst>
                      <a:ext uri="{FF2B5EF4-FFF2-40B4-BE49-F238E27FC236}">
                        <a16:creationId xmlns:a16="http://schemas.microsoft.com/office/drawing/2014/main" id="{C38CAC46-94BD-7309-4446-54990B439220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3738595" y="2932813"/>
                    <a:ext cx="768462" cy="225197"/>
                  </a:xfrm>
                  <a:prstGeom prst="rect">
                    <a:avLst/>
                  </a:prstGeom>
                  <a:solidFill>
                    <a:srgbClr val="6397D0"/>
                  </a:solidFill>
                  <a:ln>
                    <a:solidFill>
                      <a:srgbClr val="6397D0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it-I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LSTM 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  <p:sp>
                <p:nvSpPr>
                  <p:cNvPr id="93" name="CasellaDiTesto 61">
                    <a:extLst>
                      <a:ext uri="{FF2B5EF4-FFF2-40B4-BE49-F238E27FC236}">
                        <a16:creationId xmlns:a16="http://schemas.microsoft.com/office/drawing/2014/main" id="{217ADF29-19BF-58D0-05FE-866928540E6C}"/>
                      </a:ext>
                    </a:extLst>
                  </p:cNvPr>
                  <p:cNvSpPr txBox="1">
                    <a:spLocks noChangeAspect="1"/>
                  </p:cNvSpPr>
                  <p:nvPr/>
                </p:nvSpPr>
                <p:spPr>
                  <a:xfrm>
                    <a:off x="3746832" y="3229376"/>
                    <a:ext cx="768462" cy="225197"/>
                  </a:xfrm>
                  <a:prstGeom prst="rect">
                    <a:avLst/>
                  </a:prstGeom>
                  <a:solidFill>
                    <a:srgbClr val="6397D0"/>
                  </a:solidFill>
                  <a:ln>
                    <a:solidFill>
                      <a:srgbClr val="6397D0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it-I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LSTM 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</p:grpSp>
          </p:grpSp>
          <p:sp>
            <p:nvSpPr>
              <p:cNvPr id="88" name="CasellaDiTesto 46">
                <a:extLst>
                  <a:ext uri="{FF2B5EF4-FFF2-40B4-BE49-F238E27FC236}">
                    <a16:creationId xmlns:a16="http://schemas.microsoft.com/office/drawing/2014/main" id="{C8AAFF17-C231-8386-194C-660F62AC6639}"/>
                  </a:ext>
                </a:extLst>
              </p:cNvPr>
              <p:cNvSpPr txBox="1"/>
              <p:nvPr/>
            </p:nvSpPr>
            <p:spPr>
              <a:xfrm>
                <a:off x="3318589" y="3728479"/>
                <a:ext cx="1610497" cy="369332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it-IT" b="1" dirty="0" err="1">
                    <a:ea typeface="Calibri"/>
                    <a:cs typeface="Calibri"/>
                  </a:rPr>
                  <a:t>Stacked</a:t>
                </a:r>
                <a:r>
                  <a:rPr lang="it-IT" b="1" dirty="0">
                    <a:ea typeface="Calibri"/>
                    <a:cs typeface="Calibri"/>
                  </a:rPr>
                  <a:t> LSTM</a:t>
                </a:r>
                <a:endParaRPr lang="it-IT" b="1" dirty="0"/>
              </a:p>
            </p:txBody>
          </p:sp>
        </p:grpSp>
        <p:grpSp>
          <p:nvGrpSpPr>
            <p:cNvPr id="66" name="Gruppo 65">
              <a:extLst>
                <a:ext uri="{FF2B5EF4-FFF2-40B4-BE49-F238E27FC236}">
                  <a16:creationId xmlns:a16="http://schemas.microsoft.com/office/drawing/2014/main" id="{CEAFDF3B-DF81-9DFA-026E-CDAC9A5BE13C}"/>
                </a:ext>
              </a:extLst>
            </p:cNvPr>
            <p:cNvGrpSpPr/>
            <p:nvPr/>
          </p:nvGrpSpPr>
          <p:grpSpPr>
            <a:xfrm>
              <a:off x="4749914" y="2479628"/>
              <a:ext cx="1744362" cy="1896210"/>
              <a:chOff x="4749914" y="2479628"/>
              <a:chExt cx="1744362" cy="1896210"/>
            </a:xfrm>
          </p:grpSpPr>
          <p:grpSp>
            <p:nvGrpSpPr>
              <p:cNvPr id="78" name="Gruppo 77">
                <a:extLst>
                  <a:ext uri="{FF2B5EF4-FFF2-40B4-BE49-F238E27FC236}">
                    <a16:creationId xmlns:a16="http://schemas.microsoft.com/office/drawing/2014/main" id="{8636620B-CDDE-ADD0-3D36-0167AC7FC578}"/>
                  </a:ext>
                </a:extLst>
              </p:cNvPr>
              <p:cNvGrpSpPr/>
              <p:nvPr/>
            </p:nvGrpSpPr>
            <p:grpSpPr>
              <a:xfrm>
                <a:off x="4989138" y="2479628"/>
                <a:ext cx="1274674" cy="1523954"/>
                <a:chOff x="4989138" y="2479628"/>
                <a:chExt cx="1274674" cy="1523954"/>
              </a:xfrm>
            </p:grpSpPr>
            <p:sp>
              <p:nvSpPr>
                <p:cNvPr id="80" name="CasellaDiTesto 57">
                  <a:extLst>
                    <a:ext uri="{FF2B5EF4-FFF2-40B4-BE49-F238E27FC236}">
                      <a16:creationId xmlns:a16="http://schemas.microsoft.com/office/drawing/2014/main" id="{9319164E-A377-A341-A8AC-31838D7DAD08}"/>
                    </a:ext>
                  </a:extLst>
                </p:cNvPr>
                <p:cNvSpPr txBox="1"/>
                <p:nvPr/>
              </p:nvSpPr>
              <p:spPr>
                <a:xfrm>
                  <a:off x="4989138" y="2479628"/>
                  <a:ext cx="1254080" cy="22519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Input </a:t>
                  </a:r>
                </a:p>
              </p:txBody>
            </p:sp>
            <p:sp>
              <p:nvSpPr>
                <p:cNvPr id="81" name="CasellaDiTesto 59">
                  <a:extLst>
                    <a:ext uri="{FF2B5EF4-FFF2-40B4-BE49-F238E27FC236}">
                      <a16:creationId xmlns:a16="http://schemas.microsoft.com/office/drawing/2014/main" id="{5E80B2F8-91C4-E30B-49F0-F79455142D2E}"/>
                    </a:ext>
                  </a:extLst>
                </p:cNvPr>
                <p:cNvSpPr txBox="1"/>
                <p:nvPr/>
              </p:nvSpPr>
              <p:spPr>
                <a:xfrm>
                  <a:off x="5009732" y="3778385"/>
                  <a:ext cx="1254080" cy="22519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Output</a:t>
                  </a:r>
                </a:p>
              </p:txBody>
            </p:sp>
            <p:grpSp>
              <p:nvGrpSpPr>
                <p:cNvPr id="82" name="Gruppo 81">
                  <a:extLst>
                    <a:ext uri="{FF2B5EF4-FFF2-40B4-BE49-F238E27FC236}">
                      <a16:creationId xmlns:a16="http://schemas.microsoft.com/office/drawing/2014/main" id="{B5B4DDF4-4CA0-4B58-FFDB-A978D7F45436}"/>
                    </a:ext>
                  </a:extLst>
                </p:cNvPr>
                <p:cNvGrpSpPr/>
                <p:nvPr/>
              </p:nvGrpSpPr>
              <p:grpSpPr>
                <a:xfrm>
                  <a:off x="5223318" y="2768055"/>
                  <a:ext cx="803520" cy="963765"/>
                  <a:chOff x="5223318" y="2768055"/>
                  <a:chExt cx="803520" cy="963765"/>
                </a:xfrm>
              </p:grpSpPr>
              <p:grpSp>
                <p:nvGrpSpPr>
                  <p:cNvPr id="83" name="Gruppo 82">
                    <a:extLst>
                      <a:ext uri="{FF2B5EF4-FFF2-40B4-BE49-F238E27FC236}">
                        <a16:creationId xmlns:a16="http://schemas.microsoft.com/office/drawing/2014/main" id="{AA6B6296-450A-EE51-3005-7227A9381638}"/>
                      </a:ext>
                    </a:extLst>
                  </p:cNvPr>
                  <p:cNvGrpSpPr/>
                  <p:nvPr/>
                </p:nvGrpSpPr>
                <p:grpSpPr>
                  <a:xfrm>
                    <a:off x="5242000" y="2768055"/>
                    <a:ext cx="776699" cy="521760"/>
                    <a:chOff x="5242000" y="2768055"/>
                    <a:chExt cx="776699" cy="521760"/>
                  </a:xfrm>
                </p:grpSpPr>
                <p:sp>
                  <p:nvSpPr>
                    <p:cNvPr id="85" name="CasellaDiTesto 61">
                      <a:extLst>
                        <a:ext uri="{FF2B5EF4-FFF2-40B4-BE49-F238E27FC236}">
                          <a16:creationId xmlns:a16="http://schemas.microsoft.com/office/drawing/2014/main" id="{71D9F3A9-D2A9-6B43-24BB-C776363EF451}"/>
                        </a:ext>
                      </a:extLst>
                    </p:cNvPr>
                    <p:cNvSpPr txBox="1">
                      <a:spLocks noChangeAspect="1"/>
                    </p:cNvSpPr>
                    <p:nvPr/>
                  </p:nvSpPr>
                  <p:spPr>
                    <a:xfrm>
                      <a:off x="5242000" y="2768055"/>
                      <a:ext cx="768462" cy="225197"/>
                    </a:xfrm>
                    <a:prstGeom prst="rect">
                      <a:avLst/>
                    </a:prstGeom>
                    <a:solidFill>
                      <a:srgbClr val="6397D0"/>
                    </a:solidFill>
                    <a:ln>
                      <a:solidFill>
                        <a:srgbClr val="6397D0"/>
                      </a:solidFill>
                    </a:ln>
                  </p:spPr>
                  <p:style>
                    <a:lnRef idx="3">
                      <a:schemeClr val="lt1"/>
                    </a:lnRef>
                    <a:fillRef idx="1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spAutoFit/>
                    </a:bodyPr>
                    <a:lstStyle>
                      <a:defPPr>
                        <a:defRPr lang="it-IT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it-IT" b="1">
                          <a:ea typeface="Calibri"/>
                          <a:cs typeface="Calibri"/>
                        </a:rPr>
                        <a:t>LSTM </a:t>
                      </a:r>
                      <a:endParaRPr lang="it-IT" b="1" dirty="0">
                        <a:ea typeface="Calibri"/>
                        <a:cs typeface="Calibri"/>
                      </a:endParaRPr>
                    </a:p>
                  </p:txBody>
                </p:sp>
                <p:sp>
                  <p:nvSpPr>
                    <p:cNvPr id="86" name="CasellaDiTesto 61">
                      <a:extLst>
                        <a:ext uri="{FF2B5EF4-FFF2-40B4-BE49-F238E27FC236}">
                          <a16:creationId xmlns:a16="http://schemas.microsoft.com/office/drawing/2014/main" id="{F6385E0B-0822-ED10-2F5B-8D1077235946}"/>
                        </a:ext>
                      </a:extLst>
                    </p:cNvPr>
                    <p:cNvSpPr txBox="1">
                      <a:spLocks noChangeAspect="1"/>
                    </p:cNvSpPr>
                    <p:nvPr/>
                  </p:nvSpPr>
                  <p:spPr>
                    <a:xfrm>
                      <a:off x="5250237" y="3064618"/>
                      <a:ext cx="768462" cy="225197"/>
                    </a:xfrm>
                    <a:prstGeom prst="rect">
                      <a:avLst/>
                    </a:prstGeom>
                    <a:solidFill>
                      <a:srgbClr val="6397D0"/>
                    </a:solidFill>
                    <a:ln>
                      <a:solidFill>
                        <a:srgbClr val="6397D0"/>
                      </a:solidFill>
                    </a:ln>
                  </p:spPr>
                  <p:style>
                    <a:lnRef idx="3">
                      <a:schemeClr val="lt1"/>
                    </a:lnRef>
                    <a:fillRef idx="1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spAutoFit/>
                    </a:bodyPr>
                    <a:lstStyle>
                      <a:defPPr>
                        <a:defRPr lang="it-IT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it-IT" b="1">
                          <a:ea typeface="Calibri"/>
                          <a:cs typeface="Calibri"/>
                        </a:rPr>
                        <a:t>LSTM </a:t>
                      </a:r>
                      <a:endParaRPr lang="it-IT" b="1" dirty="0">
                        <a:ea typeface="Calibri"/>
                        <a:cs typeface="Calibri"/>
                      </a:endParaRPr>
                    </a:p>
                  </p:txBody>
                </p:sp>
              </p:grpSp>
              <p:sp>
                <p:nvSpPr>
                  <p:cNvPr id="84" name="CasellaDiTesto 27">
                    <a:extLst>
                      <a:ext uri="{FF2B5EF4-FFF2-40B4-BE49-F238E27FC236}">
                        <a16:creationId xmlns:a16="http://schemas.microsoft.com/office/drawing/2014/main" id="{50B23813-910A-774A-B4A5-AABF8137CF9E}"/>
                      </a:ext>
                    </a:extLst>
                  </p:cNvPr>
                  <p:cNvSpPr txBox="1"/>
                  <p:nvPr/>
                </p:nvSpPr>
                <p:spPr>
                  <a:xfrm>
                    <a:off x="5223318" y="3362488"/>
                    <a:ext cx="803520" cy="369332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it-I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Dense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</p:grpSp>
          </p:grpSp>
          <p:sp>
            <p:nvSpPr>
              <p:cNvPr id="79" name="CasellaDiTesto 47">
                <a:extLst>
                  <a:ext uri="{FF2B5EF4-FFF2-40B4-BE49-F238E27FC236}">
                    <a16:creationId xmlns:a16="http://schemas.microsoft.com/office/drawing/2014/main" id="{486EC054-6ABB-0F51-CA77-6068DEA82252}"/>
                  </a:ext>
                </a:extLst>
              </p:cNvPr>
              <p:cNvSpPr txBox="1"/>
              <p:nvPr/>
            </p:nvSpPr>
            <p:spPr>
              <a:xfrm>
                <a:off x="4749914" y="4006506"/>
                <a:ext cx="1744362" cy="369332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it-IT" b="1" dirty="0" err="1">
                    <a:ea typeface="Calibri"/>
                    <a:cs typeface="Calibri"/>
                  </a:rPr>
                  <a:t>Stacked</a:t>
                </a:r>
                <a:r>
                  <a:rPr lang="it-IT" b="1" dirty="0">
                    <a:ea typeface="Calibri"/>
                    <a:cs typeface="Calibri"/>
                  </a:rPr>
                  <a:t> + Dense</a:t>
                </a:r>
                <a:endParaRPr lang="it-IT" b="1" dirty="0"/>
              </a:p>
            </p:txBody>
          </p:sp>
        </p:grpSp>
        <p:grpSp>
          <p:nvGrpSpPr>
            <p:cNvPr id="67" name="Gruppo 66">
              <a:extLst>
                <a:ext uri="{FF2B5EF4-FFF2-40B4-BE49-F238E27FC236}">
                  <a16:creationId xmlns:a16="http://schemas.microsoft.com/office/drawing/2014/main" id="{14E06FF5-5015-6A8F-9366-4273C02C72B3}"/>
                </a:ext>
              </a:extLst>
            </p:cNvPr>
            <p:cNvGrpSpPr/>
            <p:nvPr/>
          </p:nvGrpSpPr>
          <p:grpSpPr>
            <a:xfrm>
              <a:off x="6585220" y="2222196"/>
              <a:ext cx="1274673" cy="2318398"/>
              <a:chOff x="6585220" y="2222196"/>
              <a:chExt cx="1274673" cy="2318398"/>
            </a:xfrm>
          </p:grpSpPr>
          <p:grpSp>
            <p:nvGrpSpPr>
              <p:cNvPr id="68" name="Gruppo 67">
                <a:extLst>
                  <a:ext uri="{FF2B5EF4-FFF2-40B4-BE49-F238E27FC236}">
                    <a16:creationId xmlns:a16="http://schemas.microsoft.com/office/drawing/2014/main" id="{89C685C1-889C-ABFD-6B52-B0E6AEBD57F4}"/>
                  </a:ext>
                </a:extLst>
              </p:cNvPr>
              <p:cNvGrpSpPr/>
              <p:nvPr/>
            </p:nvGrpSpPr>
            <p:grpSpPr>
              <a:xfrm>
                <a:off x="6585220" y="2222196"/>
                <a:ext cx="1274673" cy="1946143"/>
                <a:chOff x="6585220" y="2222196"/>
                <a:chExt cx="1274673" cy="1946143"/>
              </a:xfrm>
            </p:grpSpPr>
            <p:sp>
              <p:nvSpPr>
                <p:cNvPr id="70" name="CasellaDiTesto 57">
                  <a:extLst>
                    <a:ext uri="{FF2B5EF4-FFF2-40B4-BE49-F238E27FC236}">
                      <a16:creationId xmlns:a16="http://schemas.microsoft.com/office/drawing/2014/main" id="{D1D3BFF8-5C19-0E6E-0260-0E1F47E6BAB2}"/>
                    </a:ext>
                  </a:extLst>
                </p:cNvPr>
                <p:cNvSpPr txBox="1"/>
                <p:nvPr/>
              </p:nvSpPr>
              <p:spPr>
                <a:xfrm>
                  <a:off x="6585220" y="2222196"/>
                  <a:ext cx="1254080" cy="22519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Input </a:t>
                  </a:r>
                </a:p>
              </p:txBody>
            </p:sp>
            <p:sp>
              <p:nvSpPr>
                <p:cNvPr id="71" name="CasellaDiTesto 59">
                  <a:extLst>
                    <a:ext uri="{FF2B5EF4-FFF2-40B4-BE49-F238E27FC236}">
                      <a16:creationId xmlns:a16="http://schemas.microsoft.com/office/drawing/2014/main" id="{0A80B51E-7AA3-DDBA-063A-72380FBFBA74}"/>
                    </a:ext>
                  </a:extLst>
                </p:cNvPr>
                <p:cNvSpPr txBox="1"/>
                <p:nvPr/>
              </p:nvSpPr>
              <p:spPr>
                <a:xfrm>
                  <a:off x="6605813" y="3943142"/>
                  <a:ext cx="1254080" cy="22519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it-I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it-IT">
                      <a:ea typeface="Calibri"/>
                      <a:cs typeface="Calibri"/>
                    </a:rPr>
                    <a:t>Output</a:t>
                  </a:r>
                </a:p>
              </p:txBody>
            </p:sp>
            <p:grpSp>
              <p:nvGrpSpPr>
                <p:cNvPr id="72" name="Gruppo 71">
                  <a:extLst>
                    <a:ext uri="{FF2B5EF4-FFF2-40B4-BE49-F238E27FC236}">
                      <a16:creationId xmlns:a16="http://schemas.microsoft.com/office/drawing/2014/main" id="{C6F77722-5A37-C122-20D7-B5C98EEAC6A7}"/>
                    </a:ext>
                  </a:extLst>
                </p:cNvPr>
                <p:cNvGrpSpPr/>
                <p:nvPr/>
              </p:nvGrpSpPr>
              <p:grpSpPr>
                <a:xfrm>
                  <a:off x="6716427" y="2510623"/>
                  <a:ext cx="1019764" cy="1380601"/>
                  <a:chOff x="6716427" y="2510623"/>
                  <a:chExt cx="1019764" cy="1380601"/>
                </a:xfrm>
              </p:grpSpPr>
              <p:sp>
                <p:nvSpPr>
                  <p:cNvPr id="73" name="CasellaDiTesto 29">
                    <a:extLst>
                      <a:ext uri="{FF2B5EF4-FFF2-40B4-BE49-F238E27FC236}">
                        <a16:creationId xmlns:a16="http://schemas.microsoft.com/office/drawing/2014/main" id="{021857C2-1377-C356-B0C0-260E04D60382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427" y="3521892"/>
                    <a:ext cx="1019764" cy="369332"/>
                  </a:xfrm>
                  <a:prstGeom prst="rect">
                    <a:avLst/>
                  </a:prstGeom>
                  <a:ln>
                    <a:solidFill>
                      <a:schemeClr val="accent6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it-I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Dropout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  <p:grpSp>
                <p:nvGrpSpPr>
                  <p:cNvPr id="74" name="Gruppo 73">
                    <a:extLst>
                      <a:ext uri="{FF2B5EF4-FFF2-40B4-BE49-F238E27FC236}">
                        <a16:creationId xmlns:a16="http://schemas.microsoft.com/office/drawing/2014/main" id="{A42A6AAD-94EA-589E-10E5-966D5AE3DEA8}"/>
                      </a:ext>
                    </a:extLst>
                  </p:cNvPr>
                  <p:cNvGrpSpPr/>
                  <p:nvPr/>
                </p:nvGrpSpPr>
                <p:grpSpPr>
                  <a:xfrm>
                    <a:off x="6827784" y="2510623"/>
                    <a:ext cx="776699" cy="521760"/>
                    <a:chOff x="6827784" y="2510623"/>
                    <a:chExt cx="776699" cy="521760"/>
                  </a:xfrm>
                </p:grpSpPr>
                <p:sp>
                  <p:nvSpPr>
                    <p:cNvPr id="76" name="CasellaDiTesto 61">
                      <a:extLst>
                        <a:ext uri="{FF2B5EF4-FFF2-40B4-BE49-F238E27FC236}">
                          <a16:creationId xmlns:a16="http://schemas.microsoft.com/office/drawing/2014/main" id="{FAF0AEBA-26E9-356B-651A-1074692B73E2}"/>
                        </a:ext>
                      </a:extLst>
                    </p:cNvPr>
                    <p:cNvSpPr txBox="1">
                      <a:spLocks noChangeAspect="1"/>
                    </p:cNvSpPr>
                    <p:nvPr/>
                  </p:nvSpPr>
                  <p:spPr>
                    <a:xfrm>
                      <a:off x="6827784" y="2510623"/>
                      <a:ext cx="768462" cy="225197"/>
                    </a:xfrm>
                    <a:prstGeom prst="rect">
                      <a:avLst/>
                    </a:prstGeom>
                    <a:solidFill>
                      <a:srgbClr val="6397D0"/>
                    </a:solidFill>
                    <a:ln>
                      <a:solidFill>
                        <a:srgbClr val="6397D0"/>
                      </a:solidFill>
                    </a:ln>
                  </p:spPr>
                  <p:style>
                    <a:lnRef idx="3">
                      <a:schemeClr val="lt1"/>
                    </a:lnRef>
                    <a:fillRef idx="1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spAutoFit/>
                    </a:bodyPr>
                    <a:lstStyle>
                      <a:defPPr>
                        <a:defRPr lang="it-IT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it-IT" b="1">
                          <a:ea typeface="Calibri"/>
                          <a:cs typeface="Calibri"/>
                        </a:rPr>
                        <a:t>LSTM </a:t>
                      </a:r>
                      <a:endParaRPr lang="it-IT" b="1" dirty="0">
                        <a:ea typeface="Calibri"/>
                        <a:cs typeface="Calibri"/>
                      </a:endParaRPr>
                    </a:p>
                  </p:txBody>
                </p:sp>
                <p:sp>
                  <p:nvSpPr>
                    <p:cNvPr id="77" name="CasellaDiTesto 61">
                      <a:extLst>
                        <a:ext uri="{FF2B5EF4-FFF2-40B4-BE49-F238E27FC236}">
                          <a16:creationId xmlns:a16="http://schemas.microsoft.com/office/drawing/2014/main" id="{5CCEE870-6AFD-CD04-5425-4143CE14F453}"/>
                        </a:ext>
                      </a:extLst>
                    </p:cNvPr>
                    <p:cNvSpPr txBox="1">
                      <a:spLocks noChangeAspect="1"/>
                    </p:cNvSpPr>
                    <p:nvPr/>
                  </p:nvSpPr>
                  <p:spPr>
                    <a:xfrm>
                      <a:off x="6836021" y="2807186"/>
                      <a:ext cx="768462" cy="225197"/>
                    </a:xfrm>
                    <a:prstGeom prst="rect">
                      <a:avLst/>
                    </a:prstGeom>
                    <a:solidFill>
                      <a:srgbClr val="6397D0"/>
                    </a:solidFill>
                    <a:ln>
                      <a:solidFill>
                        <a:srgbClr val="6397D0"/>
                      </a:solidFill>
                    </a:ln>
                  </p:spPr>
                  <p:style>
                    <a:lnRef idx="3">
                      <a:schemeClr val="lt1"/>
                    </a:lnRef>
                    <a:fillRef idx="1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spAutoFit/>
                    </a:bodyPr>
                    <a:lstStyle>
                      <a:defPPr>
                        <a:defRPr lang="it-IT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it-IT" b="1">
                          <a:ea typeface="Calibri"/>
                          <a:cs typeface="Calibri"/>
                        </a:rPr>
                        <a:t>LSTM </a:t>
                      </a:r>
                      <a:endParaRPr lang="it-IT" b="1" dirty="0">
                        <a:ea typeface="Calibri"/>
                        <a:cs typeface="Calibri"/>
                      </a:endParaRPr>
                    </a:p>
                  </p:txBody>
                </p:sp>
              </p:grpSp>
              <p:sp>
                <p:nvSpPr>
                  <p:cNvPr id="75" name="CasellaDiTesto 33">
                    <a:extLst>
                      <a:ext uri="{FF2B5EF4-FFF2-40B4-BE49-F238E27FC236}">
                        <a16:creationId xmlns:a16="http://schemas.microsoft.com/office/drawing/2014/main" id="{D2F5D759-BFB5-DD7D-4EF8-A2286BA83F92}"/>
                      </a:ext>
                    </a:extLst>
                  </p:cNvPr>
                  <p:cNvSpPr txBox="1"/>
                  <p:nvPr/>
                </p:nvSpPr>
                <p:spPr>
                  <a:xfrm>
                    <a:off x="6809102" y="3105056"/>
                    <a:ext cx="803520" cy="369332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it-I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it-IT" b="1">
                        <a:ea typeface="Calibri"/>
                        <a:cs typeface="Calibri"/>
                      </a:rPr>
                      <a:t>Dense</a:t>
                    </a:r>
                    <a:endParaRPr lang="it-IT" b="1" dirty="0">
                      <a:ea typeface="Calibri"/>
                      <a:cs typeface="Calibri"/>
                    </a:endParaRPr>
                  </a:p>
                </p:txBody>
              </p:sp>
            </p:grpSp>
          </p:grpSp>
          <p:sp>
            <p:nvSpPr>
              <p:cNvPr id="69" name="CasellaDiTesto 48">
                <a:extLst>
                  <a:ext uri="{FF2B5EF4-FFF2-40B4-BE49-F238E27FC236}">
                    <a16:creationId xmlns:a16="http://schemas.microsoft.com/office/drawing/2014/main" id="{37AAF503-8AE1-A948-74C0-BA0340533589}"/>
                  </a:ext>
                </a:extLst>
              </p:cNvPr>
              <p:cNvSpPr txBox="1"/>
              <p:nvPr/>
            </p:nvSpPr>
            <p:spPr>
              <a:xfrm>
                <a:off x="6706400" y="4171262"/>
                <a:ext cx="1013254" cy="369332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it-IT" b="1" dirty="0" err="1">
                    <a:ea typeface="Calibri"/>
                    <a:cs typeface="Calibri"/>
                  </a:rPr>
                  <a:t>Final</a:t>
                </a:r>
                <a:endParaRPr lang="it-IT" b="1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979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3" grpId="0" animBg="1"/>
      <p:bldP spid="45" grpId="0" animBg="1"/>
      <p:bldP spid="49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9966-5770-EE98-72F6-4292382DB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497AEC1-18C0-9178-B18B-F0994428D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>
                <a:latin typeface="Century Gothic"/>
              </a:rPr>
              <a:t>LSTM: results</a:t>
            </a:r>
            <a:endParaRPr lang="it-IT" u="sng"/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0B2F9417-AF01-68D8-8D2F-B524DE3CB3E9}"/>
              </a:ext>
            </a:extLst>
          </p:cNvPr>
          <p:cNvGrpSpPr/>
          <p:nvPr/>
        </p:nvGrpSpPr>
        <p:grpSpPr>
          <a:xfrm>
            <a:off x="514689" y="1124317"/>
            <a:ext cx="11158115" cy="4378264"/>
            <a:chOff x="1018592" y="1308672"/>
            <a:chExt cx="10153265" cy="3375380"/>
          </a:xfrm>
        </p:grpSpPr>
        <p:pic>
          <p:nvPicPr>
            <p:cNvPr id="4" name="Immagine 3" descr="Immagine che contiene testo, schermata, diagramma, line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FE6EED04-4B7D-8A04-52AC-D299F7E84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879" t="-730" r="241" b="263"/>
            <a:stretch>
              <a:fillRect/>
            </a:stretch>
          </p:blipFill>
          <p:spPr>
            <a:xfrm>
              <a:off x="6096000" y="1308672"/>
              <a:ext cx="5075857" cy="3375380"/>
            </a:xfrm>
            <a:prstGeom prst="rect">
              <a:avLst/>
            </a:prstGeom>
          </p:spPr>
        </p:pic>
        <p:pic>
          <p:nvPicPr>
            <p:cNvPr id="5" name="Immagine 4" descr="Immagine che contiene testo, diagramma, Diagramma, line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45EA4156-4AA8-6803-B602-0E5081B3F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480" b="11722"/>
            <a:stretch>
              <a:fillRect/>
            </a:stretch>
          </p:blipFill>
          <p:spPr>
            <a:xfrm>
              <a:off x="1018592" y="1308672"/>
              <a:ext cx="5130866" cy="3368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7940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AB057E5-A494-43EE-7484-69AA62616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 err="1">
                <a:latin typeface="Century Gothic"/>
              </a:rPr>
              <a:t>Conclusion</a:t>
            </a:r>
            <a:endParaRPr lang="it-IT" dirty="0" err="1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CD176B75-C56D-B32A-3941-8DE2C3111DEB}"/>
              </a:ext>
            </a:extLst>
          </p:cNvPr>
          <p:cNvGrpSpPr/>
          <p:nvPr/>
        </p:nvGrpSpPr>
        <p:grpSpPr>
          <a:xfrm>
            <a:off x="6601132" y="1130708"/>
            <a:ext cx="4606413" cy="4807074"/>
            <a:chOff x="6945261" y="1130708"/>
            <a:chExt cx="4606413" cy="4807074"/>
          </a:xfrm>
        </p:grpSpPr>
        <p:pic>
          <p:nvPicPr>
            <p:cNvPr id="8" name="Immagine 7" descr="Immagine che contiene diagramma, linea, Diagramma, testo&#10;&#10;Il contenuto generato dall&amp;#39;IA potrebbe non essere corretto.">
              <a:extLst>
                <a:ext uri="{FF2B5EF4-FFF2-40B4-BE49-F238E27FC236}">
                  <a16:creationId xmlns:a16="http://schemas.microsoft.com/office/drawing/2014/main" id="{97522DD2-C6E8-AF0F-9F96-2D0C2144D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45261" y="1511250"/>
              <a:ext cx="4606413" cy="3503664"/>
            </a:xfrm>
            <a:prstGeom prst="rect">
              <a:avLst/>
            </a:prstGeom>
          </p:spPr>
        </p:pic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A7860177-2F98-8FAF-0C32-BA226AEB0EF2}"/>
                </a:ext>
              </a:extLst>
            </p:cNvPr>
            <p:cNvSpPr txBox="1"/>
            <p:nvPr/>
          </p:nvSpPr>
          <p:spPr>
            <a:xfrm>
              <a:off x="8492613" y="5014452"/>
              <a:ext cx="1646904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ea typeface="+mn-lt"/>
                  <a:cs typeface="+mn-lt"/>
                </a:rPr>
                <a:t>RMSE: </a:t>
              </a:r>
              <a:r>
                <a:rPr lang="en-US">
                  <a:solidFill>
                    <a:srgbClr val="000000"/>
                  </a:solidFill>
                  <a:ea typeface="+mn-lt"/>
                  <a:cs typeface="+mn-lt"/>
                </a:rPr>
                <a:t>21.42</a:t>
              </a:r>
              <a:endParaRPr lang="it-IT">
                <a:solidFill>
                  <a:srgbClr val="000000"/>
                </a:solidFill>
                <a:ea typeface="+mn-lt"/>
                <a:cs typeface="+mn-lt"/>
              </a:endParaRPr>
            </a:p>
            <a:p>
              <a:r>
                <a:rPr lang="en-US">
                  <a:solidFill>
                    <a:srgbClr val="000000"/>
                  </a:solidFill>
                  <a:ea typeface="+mn-lt"/>
                  <a:cs typeface="+mn-lt"/>
                </a:rPr>
                <a:t>MAE : </a:t>
              </a:r>
              <a:r>
                <a:rPr lang="en-US" dirty="0">
                  <a:solidFill>
                    <a:srgbClr val="000000"/>
                  </a:solidFill>
                  <a:ea typeface="+mn-lt"/>
                  <a:cs typeface="+mn-lt"/>
                </a:rPr>
                <a:t>16.62 MAPE: 0.03</a:t>
              </a:r>
              <a:endParaRPr lang="it-IT">
                <a:ea typeface="Calibri"/>
                <a:cs typeface="Calibri"/>
              </a:endParaRP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F41312BE-D735-582A-D01D-6682FB729A64}"/>
                </a:ext>
              </a:extLst>
            </p:cNvPr>
            <p:cNvSpPr txBox="1"/>
            <p:nvPr/>
          </p:nvSpPr>
          <p:spPr>
            <a:xfrm>
              <a:off x="8873614" y="1130708"/>
              <a:ext cx="75216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it-IT" b="1">
                  <a:ea typeface="Calibri"/>
                  <a:cs typeface="Calibri"/>
                </a:rPr>
                <a:t>LSTM</a:t>
              </a: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CDF4FE45-0714-EEAD-F0F0-454DB588F4BA}"/>
              </a:ext>
            </a:extLst>
          </p:cNvPr>
          <p:cNvGrpSpPr/>
          <p:nvPr/>
        </p:nvGrpSpPr>
        <p:grpSpPr>
          <a:xfrm>
            <a:off x="528332" y="1135624"/>
            <a:ext cx="5567823" cy="4765286"/>
            <a:chOff x="528332" y="1135624"/>
            <a:chExt cx="5567823" cy="4765286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2FE2C766-C36D-8E21-E618-FD7C32F2ACBF}"/>
                </a:ext>
              </a:extLst>
            </p:cNvPr>
            <p:cNvSpPr txBox="1"/>
            <p:nvPr/>
          </p:nvSpPr>
          <p:spPr>
            <a:xfrm>
              <a:off x="2617839" y="4977580"/>
              <a:ext cx="1659194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ea typeface="+mn-lt"/>
                  <a:cs typeface="+mn-lt"/>
                </a:rPr>
                <a:t>RMSE: </a:t>
              </a:r>
              <a:r>
                <a:rPr lang="en-US">
                  <a:solidFill>
                    <a:srgbClr val="000000"/>
                  </a:solidFill>
                  <a:ea typeface="+mn-lt"/>
                  <a:cs typeface="+mn-lt"/>
                </a:rPr>
                <a:t>213.93</a:t>
              </a:r>
              <a:endParaRPr lang="it-IT">
                <a:solidFill>
                  <a:srgbClr val="000000"/>
                </a:solidFill>
                <a:ea typeface="+mn-lt"/>
                <a:cs typeface="+mn-lt"/>
              </a:endParaRPr>
            </a:p>
            <a:p>
              <a:r>
                <a:rPr lang="en-US">
                  <a:solidFill>
                    <a:srgbClr val="000000"/>
                  </a:solidFill>
                  <a:ea typeface="+mn-lt"/>
                  <a:cs typeface="+mn-lt"/>
                </a:rPr>
                <a:t>MAE: </a:t>
              </a:r>
              <a:r>
                <a:rPr lang="en-US" dirty="0">
                  <a:solidFill>
                    <a:srgbClr val="000000"/>
                  </a:solidFill>
                  <a:ea typeface="+mn-lt"/>
                  <a:cs typeface="+mn-lt"/>
                </a:rPr>
                <a:t>58.71 MAPE: 0.12</a:t>
              </a:r>
              <a:endParaRPr lang="it-IT">
                <a:ea typeface="Calibri"/>
                <a:cs typeface="Calibri"/>
              </a:endParaRP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71410513-2FEB-9B47-077D-CCAC6D8CF1E9}"/>
                </a:ext>
              </a:extLst>
            </p:cNvPr>
            <p:cNvSpPr txBox="1"/>
            <p:nvPr/>
          </p:nvSpPr>
          <p:spPr>
            <a:xfrm>
              <a:off x="2770240" y="1135624"/>
              <a:ext cx="107171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it-IT" b="1">
                  <a:ea typeface="Calibri"/>
                  <a:cs typeface="Calibri"/>
                </a:rPr>
                <a:t>SARIMA</a:t>
              </a:r>
            </a:p>
          </p:txBody>
        </p:sp>
        <p:pic>
          <p:nvPicPr>
            <p:cNvPr id="22" name="Immagine 21" descr="Immagine che contiene diagramma, testo, Diagramma, line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986AAE26-9725-072A-B0C3-264760302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332" y="1492045"/>
              <a:ext cx="5567823" cy="34806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4570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3"/>
          <p:cNvSpPr>
            <a:spLocks noGrp="1"/>
          </p:cNvSpPr>
          <p:nvPr>
            <p:ph type="body" sz="quarter" idx="12"/>
          </p:nvPr>
        </p:nvSpPr>
        <p:spPr bwMode="auto">
          <a:xfrm>
            <a:off x="2602991" y="5068722"/>
            <a:ext cx="7058025" cy="79283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it-IT" sz="1100" dirty="0">
                <a:latin typeface="Century Gothic"/>
              </a:rPr>
              <a:t>E-mail </a:t>
            </a:r>
            <a:r>
              <a:rPr lang="it-IT" sz="1100" dirty="0">
                <a:latin typeface="Century Gothic"/>
                <a:hlinkClick r:id="rId2"/>
              </a:rPr>
              <a:t>stefano.spadari@studio.unibo.it</a:t>
            </a:r>
            <a:r>
              <a:rPr lang="it-IT" sz="1100" dirty="0">
                <a:latin typeface="Century Gothic"/>
              </a:rPr>
              <a:t> 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227542-D34F-5D86-F06D-FEF56D9234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it-IT">
                <a:latin typeface="Century Gothic"/>
              </a:rPr>
              <a:t>Vi ringrazio per l'attenzione</a:t>
            </a:r>
            <a:endParaRPr lang="it-IT" u="sng"/>
          </a:p>
        </p:txBody>
      </p:sp>
    </p:spTree>
    <p:extLst>
      <p:ext uri="{BB962C8B-B14F-4D97-AF65-F5344CB8AC3E}">
        <p14:creationId xmlns:p14="http://schemas.microsoft.com/office/powerpoint/2010/main" val="2269412900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b="1" dirty="0" smtClean="0">
            <a:solidFill>
              <a:schemeClr val="bg1"/>
            </a:solidFill>
            <a:latin typeface="Century Gothic" panose="020B0502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DIAPOSITIV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IUSURA">
  <a:themeElements>
    <a:clrScheme name="Personalizzat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EEECE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C5A350B8B864FA4BB6364DB87AFA5" ma:contentTypeVersion="15" ma:contentTypeDescription="Create a new document." ma:contentTypeScope="" ma:versionID="34d566daff8b0037b426a74a4d7fc681">
  <xsd:schema xmlns:xsd="http://www.w3.org/2001/XMLSchema" xmlns:xs="http://www.w3.org/2001/XMLSchema" xmlns:p="http://schemas.microsoft.com/office/2006/metadata/properties" xmlns:ns3="fe3a730e-302a-4df5-bd37-d9344ad5dd39" xmlns:ns4="59517204-b887-420f-893f-e0f09dd2c946" targetNamespace="http://schemas.microsoft.com/office/2006/metadata/properties" ma:root="true" ma:fieldsID="3f77963689b1713906672c0b2954bae2" ns3:_="" ns4:_="">
    <xsd:import namespace="fe3a730e-302a-4df5-bd37-d9344ad5dd39"/>
    <xsd:import namespace="59517204-b887-420f-893f-e0f09dd2c94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3a730e-302a-4df5-bd37-d9344ad5d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517204-b887-420f-893f-e0f09dd2c94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3a730e-302a-4df5-bd37-d9344ad5dd39" xsi:nil="true"/>
  </documentManagement>
</p:properties>
</file>

<file path=customXml/itemProps1.xml><?xml version="1.0" encoding="utf-8"?>
<ds:datastoreItem xmlns:ds="http://schemas.openxmlformats.org/officeDocument/2006/customXml" ds:itemID="{1F431BF4-003A-420A-9F86-DCB5B4D2A5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205914-E1C6-45D1-B69A-24424D8B67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3a730e-302a-4df5-bd37-d9344ad5dd39"/>
    <ds:schemaRef ds:uri="59517204-b887-420f-893f-e0f09dd2c9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8921CB-4A39-43FF-9D82-B95650BF5EEB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fe3a730e-302a-4df5-bd37-d9344ad5dd39"/>
    <ds:schemaRef ds:uri="http://purl.org/dc/elements/1.1/"/>
    <ds:schemaRef ds:uri="59517204-b887-420f-893f-e0f09dd2c946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1173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Titoli diapositive</vt:lpstr>
      </vt:variant>
      <vt:variant>
        <vt:i4>13</vt:i4>
      </vt:variant>
    </vt:vector>
  </HeadingPairs>
  <TitlesOfParts>
    <vt:vector size="16" baseType="lpstr">
      <vt:lpstr>COPERTINA</vt:lpstr>
      <vt:lpstr>DIAPOSITIVE</vt:lpstr>
      <vt:lpstr>CHIUSURA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Bologna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Patrizia Zauli</cp:lastModifiedBy>
  <cp:revision>2200</cp:revision>
  <cp:lastPrinted>2021-09-28T14:06:05Z</cp:lastPrinted>
  <dcterms:created xsi:type="dcterms:W3CDTF">2017-11-13T10:11:35Z</dcterms:created>
  <dcterms:modified xsi:type="dcterms:W3CDTF">2026-02-24T09:04:02Z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0x010100E00C5A350B8B864FA4BB6364DB87AFA5</vt:lpwstr>
  </property>
</Properties>
</file>